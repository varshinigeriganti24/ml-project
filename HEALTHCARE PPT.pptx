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6623" y="887816"/>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r>
              <a:rPr lang="en-US" sz="4000" b="1" dirty="0">
                <a:solidFill>
                  <a:srgbClr val="C00000"/>
                </a:solidFill>
                <a:latin typeface="+mn-lt"/>
              </a:rPr>
              <a:t>MACHINE LEARNING(25SC2107E)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MULTI-CLASS DISEASE DIAGNOSIS USING MULTINOMIAL LOGISTIC REGRESSION</a:t>
            </a:r>
          </a:p>
        </p:txBody>
      </p:sp>
      <p:sp>
        <p:nvSpPr>
          <p:cNvPr id="3" name="Subtitle 2"/>
          <p:cNvSpPr>
            <a:spLocks noGrp="1"/>
          </p:cNvSpPr>
          <p:nvPr>
            <p:ph type="subTitle" idx="1"/>
          </p:nvPr>
        </p:nvSpPr>
        <p:spPr>
          <a:xfrm>
            <a:off x="2788703" y="3429000"/>
            <a:ext cx="7010550" cy="1396014"/>
          </a:xfrm>
        </p:spPr>
        <p:txBody>
          <a:bodyPr/>
          <a:lstStyle/>
          <a:p>
            <a:r>
              <a:rPr lang="en-US" dirty="0">
                <a:solidFill>
                  <a:srgbClr val="0070C0"/>
                </a:solidFill>
              </a:rPr>
              <a:t>Team Members</a:t>
            </a:r>
          </a:p>
          <a:p>
            <a:r>
              <a:rPr lang="en-US" dirty="0">
                <a:solidFill>
                  <a:srgbClr val="0070C0"/>
                </a:solidFill>
              </a:rPr>
              <a:t>Name: </a:t>
            </a:r>
            <a:r>
              <a:rPr lang="en-US" sz="1800" b="1" dirty="0">
                <a:latin typeface="Aptos" panose="020B0004020202020204" pitchFamily="34" charset="0"/>
                <a:cs typeface="Arial" panose="020B0604020202020204" pitchFamily="34" charset="0"/>
              </a:rPr>
              <a:t>M. Geethika Chowdary     </a:t>
            </a:r>
            <a:r>
              <a:rPr lang="en-US" dirty="0" err="1">
                <a:solidFill>
                  <a:srgbClr val="0070C0"/>
                </a:solidFill>
              </a:rPr>
              <a:t>Rollno</a:t>
            </a:r>
            <a:r>
              <a:rPr lang="en-US" dirty="0">
                <a:solidFill>
                  <a:srgbClr val="0070C0"/>
                </a:solidFill>
              </a:rPr>
              <a:t>: </a:t>
            </a:r>
            <a:r>
              <a:rPr lang="en-US" sz="1800" b="1" dirty="0">
                <a:latin typeface="Aptos" panose="020B0004020202020204" pitchFamily="34" charset="0"/>
                <a:cs typeface="Arial" panose="020B0604020202020204" pitchFamily="34" charset="0"/>
              </a:rPr>
              <a:t>2520030056</a:t>
            </a:r>
          </a:p>
          <a:p>
            <a:r>
              <a:rPr lang="en-US" dirty="0">
                <a:solidFill>
                  <a:srgbClr val="0070C0"/>
                </a:solidFill>
              </a:rPr>
              <a:t>Name:</a:t>
            </a:r>
            <a:r>
              <a:rPr lang="en-US" sz="1800" dirty="0">
                <a:solidFill>
                  <a:srgbClr val="0070C0"/>
                </a:solidFill>
              </a:rPr>
              <a:t> </a:t>
            </a:r>
            <a:r>
              <a:rPr lang="en-US" sz="1800" b="1" dirty="0">
                <a:latin typeface="Aptos" panose="020B0004020202020204" pitchFamily="34" charset="0"/>
                <a:cs typeface="Arial" panose="020B0604020202020204" pitchFamily="34" charset="0"/>
              </a:rPr>
              <a:t>G. Varshini        </a:t>
            </a:r>
            <a:r>
              <a:rPr lang="en-US" dirty="0" err="1">
                <a:solidFill>
                  <a:srgbClr val="0070C0"/>
                </a:solidFill>
              </a:rPr>
              <a:t>Rollno</a:t>
            </a:r>
            <a:r>
              <a:rPr lang="en-US" dirty="0">
                <a:solidFill>
                  <a:srgbClr val="0070C0"/>
                </a:solidFill>
              </a:rPr>
              <a:t>: </a:t>
            </a:r>
            <a:r>
              <a:rPr lang="en-US" sz="1800" b="1" dirty="0">
                <a:latin typeface="Aptos" panose="020B0004020202020204" pitchFamily="34" charset="0"/>
                <a:cs typeface="Arial" panose="020B0604020202020204" pitchFamily="34" charset="0"/>
              </a:rPr>
              <a:t>2520030017</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Shaik Asif</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1189003"/>
            <a:ext cx="4922699" cy="5252272"/>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400" b="0" i="0" u="none" strike="noStrike" kern="1200" dirty="0">
                <a:solidFill>
                  <a:srgbClr val="000000"/>
                </a:solidFill>
                <a:effectLst/>
                <a:latin typeface="Calibri" panose="020F0502020204030204" pitchFamily="34" charset="0"/>
              </a:rPr>
              <a:t>Problem </a:t>
            </a:r>
            <a:r>
              <a:rPr lang="en-US" sz="2400" dirty="0">
                <a:solidFill>
                  <a:srgbClr val="000000"/>
                </a:solidFill>
                <a:latin typeface="Calibri" panose="020F0502020204030204" pitchFamily="34" charset="0"/>
              </a:rPr>
              <a:t>Statement &amp; Objectives</a:t>
            </a:r>
            <a:endParaRPr lang="en-US" sz="24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400" dirty="0">
                <a:solidFill>
                  <a:srgbClr val="000000"/>
                </a:solidFill>
                <a:latin typeface="Calibri" panose="020F0502020204030204" pitchFamily="34" charset="0"/>
              </a:rPr>
              <a:t>Abstract</a:t>
            </a:r>
            <a:endParaRPr lang="en-IN" sz="24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cs typeface="Gautami" panose="020B0502040204020203" pitchFamily="34" charset="0"/>
              </a:rPr>
              <a:t>Existing System &amp; Limitations</a:t>
            </a:r>
            <a:endParaRPr lang="en-IN" sz="24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cs typeface="Gautami" panose="020B0502040204020203" pitchFamily="34" charset="0"/>
              </a:rPr>
              <a:t>Exploratory Data Analysis (EDA)</a:t>
            </a:r>
            <a:endParaRPr lang="en-IN" sz="24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cs typeface="Gautami" panose="020B0502040204020203" pitchFamily="34" charset="0"/>
              </a:rPr>
              <a:t>Algorithms Used</a:t>
            </a:r>
            <a:endParaRPr lang="en-IN" sz="24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cs typeface="Gautami" panose="020B0502040204020203" pitchFamily="34" charset="0"/>
              </a:rPr>
              <a:t>Proposed Solution</a:t>
            </a:r>
            <a:endParaRPr lang="en-IN" sz="24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ea typeface="Times New Roman" panose="02020603050405020304" pitchFamily="18" charset="0"/>
                <a:cs typeface="Gautami" panose="020B0502040204020203" pitchFamily="34" charset="0"/>
              </a:rPr>
              <a:t>Disease Prediction Workflow</a:t>
            </a:r>
            <a:endParaRPr lang="en-US" sz="24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400" dirty="0">
                <a:solidFill>
                  <a:srgbClr val="000000"/>
                </a:solidFill>
                <a:latin typeface="Calibri" panose="020F0502020204030204" pitchFamily="34" charset="0"/>
                <a:cs typeface="Gautami" panose="020B0502040204020203" pitchFamily="34" charset="0"/>
              </a:rPr>
              <a:t>Conclusion &amp; Future Scope</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8" y="221672"/>
            <a:ext cx="6386459" cy="67668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3949516" y="267626"/>
            <a:ext cx="5959642" cy="584775"/>
          </a:xfrm>
          <a:prstGeom prst="rect">
            <a:avLst/>
          </a:prstGeom>
          <a:noFill/>
        </p:spPr>
        <p:txBody>
          <a:bodyPr wrap="square" rtlCol="0">
            <a:spAutoFit/>
          </a:bodyPr>
          <a:lstStyle/>
          <a:p>
            <a:pPr algn="ctr"/>
            <a:r>
              <a:rPr lang="en-US" sz="3200" b="1" dirty="0">
                <a:solidFill>
                  <a:schemeClr val="bg1"/>
                </a:solidFill>
              </a:rPr>
              <a:t>Problem Statement &amp; Objectives</a:t>
            </a:r>
          </a:p>
        </p:txBody>
      </p:sp>
      <p:sp>
        <p:nvSpPr>
          <p:cNvPr id="4" name="TextBox 3">
            <a:extLst>
              <a:ext uri="{FF2B5EF4-FFF2-40B4-BE49-F238E27FC236}">
                <a16:creationId xmlns:a16="http://schemas.microsoft.com/office/drawing/2014/main" id="{7808DD88-2353-C42E-CFD4-1675F385E50A}"/>
              </a:ext>
            </a:extLst>
          </p:cNvPr>
          <p:cNvSpPr txBox="1"/>
          <p:nvPr/>
        </p:nvSpPr>
        <p:spPr>
          <a:xfrm>
            <a:off x="2778359" y="1273621"/>
            <a:ext cx="8301955" cy="2677656"/>
          </a:xfrm>
          <a:prstGeom prst="rect">
            <a:avLst/>
          </a:prstGeom>
          <a:noFill/>
        </p:spPr>
        <p:txBody>
          <a:bodyPr wrap="square" rtlCol="0">
            <a:spAutoFit/>
          </a:bodyPr>
          <a:lstStyle/>
          <a:p>
            <a:pPr marL="285750" lvl="0" indent="-285750" algn="just">
              <a:buFont typeface="Arial" panose="020B0604020202020204" pitchFamily="34" charset="0"/>
              <a:buChar char="•"/>
            </a:pPr>
            <a:r>
              <a:rPr lang="en-IN" sz="2400" dirty="0"/>
              <a:t>Disease diagnosis requires analysis of multiple symptoms and patient characteristics.</a:t>
            </a:r>
          </a:p>
          <a:p>
            <a:pPr marL="285750" lvl="0" indent="-285750" algn="just">
              <a:buFont typeface="Arial" panose="020B0604020202020204" pitchFamily="34" charset="0"/>
              <a:buChar char="•"/>
            </a:pPr>
            <a:r>
              <a:rPr lang="en-IN" sz="2400" dirty="0"/>
              <a:t>Different diseases may have similar symptoms, making classification challenging.</a:t>
            </a:r>
          </a:p>
          <a:p>
            <a:pPr marL="285750" lvl="0" indent="-285750" algn="just">
              <a:buFont typeface="Arial" panose="020B0604020202020204" pitchFamily="34" charset="0"/>
              <a:buChar char="•"/>
            </a:pPr>
            <a:r>
              <a:rPr lang="en-IN" sz="2400" dirty="0"/>
              <a:t>Manual analysis of patient records can be time-consuming.</a:t>
            </a:r>
          </a:p>
          <a:p>
            <a:pPr marL="285750" lvl="0" indent="-285750" algn="just">
              <a:buFont typeface="Arial" panose="020B0604020202020204" pitchFamily="34" charset="0"/>
              <a:buChar char="•"/>
            </a:pPr>
            <a:r>
              <a:rPr lang="en-IN" sz="2400" dirty="0"/>
              <a:t>Machine learning can assist in predicting the most likely disease category</a:t>
            </a:r>
            <a:r>
              <a:rPr lang="en-IN" dirty="0"/>
              <a:t>.</a:t>
            </a:r>
          </a:p>
        </p:txBody>
      </p:sp>
      <p:sp>
        <p:nvSpPr>
          <p:cNvPr id="6" name="TextBox 5">
            <a:extLst>
              <a:ext uri="{FF2B5EF4-FFF2-40B4-BE49-F238E27FC236}">
                <a16:creationId xmlns:a16="http://schemas.microsoft.com/office/drawing/2014/main" id="{C9190A6F-D8DE-BDA7-2087-2BC6FCDE3AE4}"/>
              </a:ext>
            </a:extLst>
          </p:cNvPr>
          <p:cNvSpPr txBox="1"/>
          <p:nvPr/>
        </p:nvSpPr>
        <p:spPr>
          <a:xfrm>
            <a:off x="2778359" y="4025225"/>
            <a:ext cx="8301954" cy="2300630"/>
          </a:xfrm>
          <a:prstGeom prst="rect">
            <a:avLst/>
          </a:prstGeom>
          <a:noFill/>
        </p:spPr>
        <p:txBody>
          <a:bodyPr wrap="square">
            <a:spAutoFit/>
          </a:bodyPr>
          <a:lstStyle/>
          <a:p>
            <a:pPr marL="285750" marR="0" lvl="0" indent="-285750" algn="just" rtl="0">
              <a:buFont typeface="Arial" panose="020B0604020202020204" pitchFamily="34" charset="0"/>
              <a:buChar char="•"/>
            </a:pPr>
            <a:r>
              <a:rPr lang="en-IN" sz="2400" b="0" i="0" dirty="0">
                <a:solidFill>
                  <a:schemeClr val="tx1"/>
                </a:solidFill>
                <a:effectLst/>
                <a:latin typeface="+mn-lt"/>
              </a:rPr>
              <a:t>Develop a multi-class disease prediction model.</a:t>
            </a:r>
          </a:p>
          <a:p>
            <a:pPr marL="285750" marR="0" lvl="0" indent="-285750" algn="just" rtl="0">
              <a:buFont typeface="Arial" panose="020B0604020202020204" pitchFamily="34" charset="0"/>
              <a:buChar char="•"/>
            </a:pPr>
            <a:r>
              <a:rPr lang="en-IN" sz="2400" b="0" i="0" dirty="0">
                <a:solidFill>
                  <a:schemeClr val="tx1"/>
                </a:solidFill>
                <a:effectLst/>
                <a:latin typeface="+mn-lt"/>
              </a:rPr>
              <a:t>Use symptoms and patient profile information as input features.</a:t>
            </a:r>
          </a:p>
          <a:p>
            <a:pPr marL="285750" marR="0" lvl="0" indent="-285750" algn="just" rtl="0">
              <a:buFont typeface="Arial" panose="020B0604020202020204" pitchFamily="34" charset="0"/>
              <a:buChar char="•"/>
            </a:pPr>
            <a:r>
              <a:rPr lang="en-IN" sz="2400" b="0" i="0" dirty="0">
                <a:solidFill>
                  <a:schemeClr val="tx1"/>
                </a:solidFill>
                <a:effectLst/>
                <a:latin typeface="+mn-lt"/>
              </a:rPr>
              <a:t>Apply Multinomial Logistic Regression for disease classification.</a:t>
            </a:r>
          </a:p>
          <a:p>
            <a:pPr marL="285750" marR="0" lvl="0" indent="-285750" algn="just" rtl="0">
              <a:buFont typeface="Arial" panose="020B0604020202020204" pitchFamily="34" charset="0"/>
              <a:buChar char="•"/>
            </a:pPr>
            <a:r>
              <a:rPr lang="en-IN" sz="2400" b="0" i="0" dirty="0">
                <a:solidFill>
                  <a:schemeClr val="tx1"/>
                </a:solidFill>
                <a:effectLst/>
                <a:latin typeface="+mn-lt"/>
              </a:rPr>
              <a:t>Evaluate the model using classification metrics. </a:t>
            </a:r>
          </a:p>
          <a:p>
            <a:pPr marL="0" marR="0" indent="0" algn="l">
              <a:spcBef>
                <a:spcPts val="1200"/>
              </a:spcBef>
              <a:spcAft>
                <a:spcPts val="300"/>
              </a:spcAft>
              <a:buNone/>
            </a:pPr>
            <a:endParaRPr lang="en-IN" sz="1350" b="1" i="0" dirty="0">
              <a:solidFill>
                <a:srgbClr val="0D0D0D"/>
              </a:solidFill>
              <a:effectLst/>
              <a:latin typeface="-apple-system-body"/>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A292A05A-BEF8-6492-1A8A-40A6E9632BB0}"/>
              </a:ext>
            </a:extLst>
          </p:cNvPr>
          <p:cNvSpPr txBox="1"/>
          <p:nvPr/>
        </p:nvSpPr>
        <p:spPr>
          <a:xfrm>
            <a:off x="2800032" y="1351508"/>
            <a:ext cx="7911511" cy="4154984"/>
          </a:xfrm>
          <a:prstGeom prst="rect">
            <a:avLst/>
          </a:prstGeom>
          <a:noFill/>
        </p:spPr>
        <p:txBody>
          <a:bodyPr wrap="square" rtlCol="0">
            <a:spAutoFit/>
          </a:bodyPr>
          <a:lstStyle/>
          <a:p>
            <a:pPr algn="just"/>
            <a:r>
              <a:rPr lang="en-IN" sz="2400" dirty="0"/>
              <a:t>This project presents a machine learning-based approach for multi-class disease diagnosis using patient symptoms and profile information. The dataset contains features such as fever, cough, fatigue, difficulty breathing, age, gender, blood pressure, and cholesterol level. Multinomial Logistic Regression is used to classify patients into different disease categories. The proposed system processes the patient data, trains the classification model, and predicts the most likely disease. The project demonstrates how machine learning can be used as a decision-support approach for preliminary disease prediction</a:t>
            </a:r>
            <a:r>
              <a:rPr lang="en-IN"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331030" y="221672"/>
            <a:ext cx="5834648" cy="55706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33569" y="193964"/>
            <a:ext cx="5429569" cy="584775"/>
          </a:xfrm>
          <a:prstGeom prst="rect">
            <a:avLst/>
          </a:prstGeom>
          <a:noFill/>
        </p:spPr>
        <p:txBody>
          <a:bodyPr wrap="square" rtlCol="0">
            <a:spAutoFit/>
          </a:bodyPr>
          <a:lstStyle/>
          <a:p>
            <a:pPr algn="ctr"/>
            <a:r>
              <a:rPr lang="en-US" sz="3200" b="1" dirty="0">
                <a:solidFill>
                  <a:schemeClr val="bg1"/>
                </a:solidFill>
              </a:rPr>
              <a:t>Existing System &amp; Limitations</a:t>
            </a:r>
          </a:p>
        </p:txBody>
      </p:sp>
      <p:sp>
        <p:nvSpPr>
          <p:cNvPr id="4" name="TextBox 3">
            <a:extLst>
              <a:ext uri="{FF2B5EF4-FFF2-40B4-BE49-F238E27FC236}">
                <a16:creationId xmlns:a16="http://schemas.microsoft.com/office/drawing/2014/main" id="{FC652A83-B55F-EFD5-127E-F5C4B36E7474}"/>
              </a:ext>
            </a:extLst>
          </p:cNvPr>
          <p:cNvSpPr txBox="1"/>
          <p:nvPr/>
        </p:nvSpPr>
        <p:spPr>
          <a:xfrm>
            <a:off x="3166095" y="945320"/>
            <a:ext cx="7032264" cy="2677656"/>
          </a:xfrm>
          <a:prstGeom prst="rect">
            <a:avLst/>
          </a:prstGeom>
          <a:noFill/>
        </p:spPr>
        <p:txBody>
          <a:bodyPr wrap="square" rtlCol="0">
            <a:spAutoFit/>
          </a:bodyPr>
          <a:lstStyle/>
          <a:p>
            <a:r>
              <a:rPr lang="en-IN" sz="2400" b="1" dirty="0"/>
              <a:t>Existing System</a:t>
            </a:r>
            <a:endParaRPr lang="en-IN" dirty="0"/>
          </a:p>
          <a:p>
            <a:pPr marL="285750" indent="-285750" algn="just">
              <a:buFont typeface="Arial" panose="020B0604020202020204" pitchFamily="34" charset="0"/>
              <a:buChar char="•"/>
            </a:pPr>
            <a:r>
              <a:rPr lang="en-IN" sz="2400" dirty="0"/>
              <a:t>Traditional disease diagnosis generally involves:</a:t>
            </a:r>
          </a:p>
          <a:p>
            <a:pPr marL="285750" lvl="0" indent="-285750" algn="just">
              <a:buFont typeface="Arial" panose="020B0604020202020204" pitchFamily="34" charset="0"/>
              <a:buChar char="•"/>
            </a:pPr>
            <a:r>
              <a:rPr lang="en-IN" sz="2400" dirty="0"/>
              <a:t>Patient consultation with a healthcare professional </a:t>
            </a:r>
          </a:p>
          <a:p>
            <a:pPr marL="285750" lvl="0" indent="-285750" algn="just">
              <a:buFont typeface="Arial" panose="020B0604020202020204" pitchFamily="34" charset="0"/>
              <a:buChar char="•"/>
            </a:pPr>
            <a:r>
              <a:rPr lang="en-IN" sz="2400" dirty="0"/>
              <a:t>Collection of medical history </a:t>
            </a:r>
          </a:p>
          <a:p>
            <a:pPr marL="285750" lvl="0" indent="-285750" algn="just">
              <a:buFont typeface="Arial" panose="020B0604020202020204" pitchFamily="34" charset="0"/>
              <a:buChar char="•"/>
            </a:pPr>
            <a:r>
              <a:rPr lang="en-IN" sz="2400" dirty="0"/>
              <a:t>Analysis of symptoms </a:t>
            </a:r>
          </a:p>
          <a:p>
            <a:pPr marL="285750" lvl="0" indent="-285750" algn="just">
              <a:buFont typeface="Arial" panose="020B0604020202020204" pitchFamily="34" charset="0"/>
              <a:buChar char="•"/>
            </a:pPr>
            <a:r>
              <a:rPr lang="en-IN" sz="2400" dirty="0"/>
              <a:t>Physical examination </a:t>
            </a:r>
          </a:p>
          <a:p>
            <a:pPr marL="285750" lvl="0" indent="-285750" algn="just">
              <a:buFont typeface="Arial" panose="020B0604020202020204" pitchFamily="34" charset="0"/>
              <a:buChar char="•"/>
            </a:pPr>
            <a:r>
              <a:rPr lang="en-IN" sz="2400" dirty="0"/>
              <a:t>Laboratory and diagnostic tests</a:t>
            </a:r>
          </a:p>
        </p:txBody>
      </p:sp>
      <p:sp>
        <p:nvSpPr>
          <p:cNvPr id="6" name="TextBox 5">
            <a:extLst>
              <a:ext uri="{FF2B5EF4-FFF2-40B4-BE49-F238E27FC236}">
                <a16:creationId xmlns:a16="http://schemas.microsoft.com/office/drawing/2014/main" id="{0DE2E591-C804-D29E-F322-7B4A65C737BC}"/>
              </a:ext>
            </a:extLst>
          </p:cNvPr>
          <p:cNvSpPr txBox="1"/>
          <p:nvPr/>
        </p:nvSpPr>
        <p:spPr>
          <a:xfrm>
            <a:off x="3166095" y="3709381"/>
            <a:ext cx="7134901" cy="2954655"/>
          </a:xfrm>
          <a:prstGeom prst="rect">
            <a:avLst/>
          </a:prstGeom>
          <a:noFill/>
        </p:spPr>
        <p:txBody>
          <a:bodyPr wrap="square" rtlCol="0">
            <a:spAutoFit/>
          </a:bodyPr>
          <a:lstStyle/>
          <a:p>
            <a:r>
              <a:rPr lang="en-IN" sz="2400" b="1" dirty="0"/>
              <a:t>Limitations</a:t>
            </a:r>
            <a:endParaRPr lang="en-IN" sz="2400" dirty="0"/>
          </a:p>
          <a:p>
            <a:pPr marL="342900" lvl="0" indent="-342900" algn="just">
              <a:buFont typeface="Arial" panose="020B0604020202020204" pitchFamily="34" charset="0"/>
              <a:buChar char="•"/>
            </a:pPr>
            <a:r>
              <a:rPr lang="en-IN" sz="2400" dirty="0"/>
              <a:t>Time-consuming for </a:t>
            </a:r>
            <a:r>
              <a:rPr lang="en-IN" sz="2400" dirty="0" err="1"/>
              <a:t>analyzing</a:t>
            </a:r>
            <a:r>
              <a:rPr lang="en-IN" sz="2400" dirty="0"/>
              <a:t> large numbers of patients </a:t>
            </a:r>
          </a:p>
          <a:p>
            <a:pPr marL="342900" lvl="0" indent="-342900" algn="just">
              <a:buFont typeface="Arial" panose="020B0604020202020204" pitchFamily="34" charset="0"/>
              <a:buChar char="•"/>
            </a:pPr>
            <a:r>
              <a:rPr lang="en-IN" sz="2400" dirty="0"/>
              <a:t>Manual dependency on medical expertise </a:t>
            </a:r>
          </a:p>
          <a:p>
            <a:pPr marL="342900" lvl="0" indent="-342900" algn="just">
              <a:buFont typeface="Arial" panose="020B0604020202020204" pitchFamily="34" charset="0"/>
              <a:buChar char="•"/>
            </a:pPr>
            <a:r>
              <a:rPr lang="en-IN" sz="2400" dirty="0"/>
              <a:t>Similar symptoms may occur in different diseases </a:t>
            </a:r>
          </a:p>
          <a:p>
            <a:pPr marL="342900" lvl="0" indent="-342900" algn="just">
              <a:buFont typeface="Arial" panose="020B0604020202020204" pitchFamily="34" charset="0"/>
              <a:buChar char="•"/>
            </a:pPr>
            <a:r>
              <a:rPr lang="en-IN" sz="2400" dirty="0"/>
              <a:t>Difficult to </a:t>
            </a:r>
            <a:r>
              <a:rPr lang="en-IN" sz="2400" dirty="0" err="1"/>
              <a:t>analyze</a:t>
            </a:r>
            <a:r>
              <a:rPr lang="en-IN" sz="2400" dirty="0"/>
              <a:t> large datasets manually </a:t>
            </a:r>
          </a:p>
          <a:p>
            <a:pPr marL="342900" lvl="0" indent="-342900" algn="just">
              <a:buFont typeface="Arial" panose="020B0604020202020204" pitchFamily="34" charset="0"/>
              <a:buChar char="•"/>
            </a:pPr>
            <a:r>
              <a:rPr lang="en-IN" sz="2400" dirty="0"/>
              <a:t>May not provide a quick preliminary prediction</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585956" y="257183"/>
            <a:ext cx="6871855" cy="584775"/>
          </a:xfrm>
          <a:prstGeom prst="rect">
            <a:avLst/>
          </a:prstGeom>
          <a:noFill/>
        </p:spPr>
        <p:txBody>
          <a:bodyPr wrap="square" rtlCol="0">
            <a:spAutoFit/>
          </a:bodyPr>
          <a:lstStyle/>
          <a:p>
            <a:pPr algn="ctr"/>
            <a:r>
              <a:rPr lang="en-US" sz="3200" b="1" dirty="0">
                <a:solidFill>
                  <a:schemeClr val="bg1"/>
                </a:solidFill>
              </a:rPr>
              <a:t>Exploratory Data Analysis (EDA)</a:t>
            </a:r>
          </a:p>
        </p:txBody>
      </p:sp>
      <p:sp>
        <p:nvSpPr>
          <p:cNvPr id="4" name="TextBox 3">
            <a:extLst>
              <a:ext uri="{FF2B5EF4-FFF2-40B4-BE49-F238E27FC236}">
                <a16:creationId xmlns:a16="http://schemas.microsoft.com/office/drawing/2014/main" id="{90317242-4B0A-8542-B73D-335328D7AB51}"/>
              </a:ext>
            </a:extLst>
          </p:cNvPr>
          <p:cNvSpPr txBox="1"/>
          <p:nvPr/>
        </p:nvSpPr>
        <p:spPr>
          <a:xfrm>
            <a:off x="2827335" y="1168147"/>
            <a:ext cx="6537330" cy="4339650"/>
          </a:xfrm>
          <a:prstGeom prst="rect">
            <a:avLst/>
          </a:prstGeom>
          <a:noFill/>
        </p:spPr>
        <p:txBody>
          <a:bodyPr wrap="square" rtlCol="0">
            <a:spAutoFit/>
          </a:bodyPr>
          <a:lstStyle/>
          <a:p>
            <a:r>
              <a:rPr lang="en-IN" sz="2400" b="1" dirty="0"/>
              <a:t>EDA Steps :</a:t>
            </a:r>
          </a:p>
          <a:p>
            <a:endParaRPr lang="en-IN" dirty="0"/>
          </a:p>
          <a:p>
            <a:pPr marL="342900" lvl="0" indent="-342900">
              <a:buFont typeface="Arial" panose="020B0604020202020204" pitchFamily="34" charset="0"/>
              <a:buChar char="•"/>
            </a:pPr>
            <a:r>
              <a:rPr lang="en-IN" sz="2400" dirty="0"/>
              <a:t>Checked the structure of the dataset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Identified missing values and duplicates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err="1"/>
              <a:t>Analyzed</a:t>
            </a:r>
            <a:r>
              <a:rPr lang="en-IN" sz="2400" dirty="0"/>
              <a:t> disease/class distribution</a:t>
            </a:r>
          </a:p>
          <a:p>
            <a:pPr lvl="0"/>
            <a:r>
              <a:rPr lang="en-IN" sz="2400" dirty="0"/>
              <a:t> </a:t>
            </a:r>
          </a:p>
          <a:p>
            <a:pPr marL="342900" lvl="0" indent="-342900">
              <a:buFont typeface="Arial" panose="020B0604020202020204" pitchFamily="34" charset="0"/>
              <a:buChar char="•"/>
            </a:pPr>
            <a:r>
              <a:rPr lang="en-IN" sz="2400" dirty="0"/>
              <a:t>Studied patient age and gender distribution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Examined relationships between input features</a:t>
            </a:r>
          </a:p>
          <a:p>
            <a:endParaRPr lang="en-IN" dirty="0"/>
          </a:p>
        </p:txBody>
      </p:sp>
      <p:pic>
        <p:nvPicPr>
          <p:cNvPr id="6" name="Picture 5">
            <a:extLst>
              <a:ext uri="{FF2B5EF4-FFF2-40B4-BE49-F238E27FC236}">
                <a16:creationId xmlns:a16="http://schemas.microsoft.com/office/drawing/2014/main" id="{5EBCF296-1676-B561-5A01-0695414AAF34}"/>
              </a:ext>
            </a:extLst>
          </p:cNvPr>
          <p:cNvPicPr>
            <a:picLocks noChangeAspect="1"/>
          </p:cNvPicPr>
          <p:nvPr/>
        </p:nvPicPr>
        <p:blipFill>
          <a:blip r:embed="rId2"/>
          <a:stretch>
            <a:fillRect/>
          </a:stretch>
        </p:blipFill>
        <p:spPr>
          <a:xfrm>
            <a:off x="9001988" y="1342693"/>
            <a:ext cx="3006960" cy="3013779"/>
          </a:xfrm>
          <a:prstGeom prst="rect">
            <a:avLst/>
          </a:prstGeom>
        </p:spPr>
      </p:pic>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Algorithms Used</a:t>
            </a:r>
          </a:p>
        </p:txBody>
      </p:sp>
      <p:sp>
        <p:nvSpPr>
          <p:cNvPr id="4" name="TextBox 3">
            <a:extLst>
              <a:ext uri="{FF2B5EF4-FFF2-40B4-BE49-F238E27FC236}">
                <a16:creationId xmlns:a16="http://schemas.microsoft.com/office/drawing/2014/main" id="{10090385-1DDF-5818-4DC8-B16152DE7BB7}"/>
              </a:ext>
            </a:extLst>
          </p:cNvPr>
          <p:cNvSpPr txBox="1"/>
          <p:nvPr/>
        </p:nvSpPr>
        <p:spPr>
          <a:xfrm>
            <a:off x="2945362" y="981505"/>
            <a:ext cx="9330614" cy="5909310"/>
          </a:xfrm>
          <a:prstGeom prst="rect">
            <a:avLst/>
          </a:prstGeom>
          <a:noFill/>
        </p:spPr>
        <p:txBody>
          <a:bodyPr wrap="square" rtlCol="0">
            <a:spAutoFit/>
          </a:bodyPr>
          <a:lstStyle/>
          <a:p>
            <a:pPr marL="342900" indent="-342900">
              <a:buFont typeface="Arial" panose="020B0604020202020204" pitchFamily="34" charset="0"/>
              <a:buChar char="•"/>
            </a:pPr>
            <a:r>
              <a:rPr lang="en-IN" sz="2400" b="1" dirty="0"/>
              <a:t>Primary Algorithm:</a:t>
            </a:r>
            <a:br>
              <a:rPr lang="en-IN" sz="2400" dirty="0"/>
            </a:br>
            <a:r>
              <a:rPr lang="en-IN" sz="2400" b="1" dirty="0"/>
              <a:t>Multinomial Logistic Regression</a:t>
            </a:r>
            <a:endParaRPr lang="en-IN" sz="2400" dirty="0"/>
          </a:p>
          <a:p>
            <a:pPr marL="342900" indent="-342900">
              <a:buFont typeface="Arial" panose="020B0604020202020204" pitchFamily="34" charset="0"/>
              <a:buChar char="•"/>
            </a:pPr>
            <a:r>
              <a:rPr lang="en-IN" sz="2400" b="1" dirty="0"/>
              <a:t>Purpose:</a:t>
            </a:r>
            <a:br>
              <a:rPr lang="en-IN" sz="2400" dirty="0"/>
            </a:br>
            <a:r>
              <a:rPr lang="en-IN" sz="2400" dirty="0"/>
              <a:t>Multi-class disease classification</a:t>
            </a:r>
          </a:p>
          <a:p>
            <a:pPr marL="342900" indent="-342900">
              <a:buFont typeface="Arial" panose="020B0604020202020204" pitchFamily="34" charset="0"/>
              <a:buChar char="•"/>
            </a:pPr>
            <a:r>
              <a:rPr lang="en-IN" sz="2400" b="1" dirty="0"/>
              <a:t>Input:</a:t>
            </a:r>
            <a:br>
              <a:rPr lang="en-IN" sz="2400" dirty="0"/>
            </a:br>
            <a:r>
              <a:rPr lang="en-IN" sz="2400" dirty="0"/>
              <a:t>Patient symptoms and profile features</a:t>
            </a:r>
          </a:p>
          <a:p>
            <a:pPr marL="342900" indent="-342900">
              <a:buFont typeface="Arial" panose="020B0604020202020204" pitchFamily="34" charset="0"/>
              <a:buChar char="•"/>
            </a:pPr>
            <a:r>
              <a:rPr lang="en-IN" sz="2400" b="1" dirty="0"/>
              <a:t>Output:</a:t>
            </a:r>
            <a:br>
              <a:rPr lang="en-IN" sz="2400" dirty="0"/>
            </a:br>
            <a:r>
              <a:rPr lang="en-IN" sz="2400" dirty="0"/>
              <a:t>Predicted disease category</a:t>
            </a:r>
          </a:p>
          <a:p>
            <a:pPr marL="342900" indent="-342900">
              <a:buFont typeface="Arial" panose="020B0604020202020204" pitchFamily="34" charset="0"/>
              <a:buChar char="•"/>
            </a:pPr>
            <a:r>
              <a:rPr lang="en-IN" sz="2400" b="1" dirty="0"/>
              <a:t>Why selected?</a:t>
            </a:r>
            <a:endParaRPr lang="en-IN" sz="2400" dirty="0"/>
          </a:p>
          <a:p>
            <a:pPr marL="342900" lvl="0" indent="-342900">
              <a:buFont typeface="Arial" panose="020B0604020202020204" pitchFamily="34" charset="0"/>
              <a:buChar char="•"/>
            </a:pPr>
            <a:r>
              <a:rPr lang="en-IN" sz="2400" dirty="0"/>
              <a:t>Suitable for multi-class classification </a:t>
            </a:r>
          </a:p>
          <a:p>
            <a:pPr marL="342900" lvl="0" indent="-342900">
              <a:buFont typeface="Arial" panose="020B0604020202020204" pitchFamily="34" charset="0"/>
              <a:buChar char="•"/>
            </a:pPr>
            <a:r>
              <a:rPr lang="en-IN" sz="2400" dirty="0"/>
              <a:t>Simple and interpretable </a:t>
            </a:r>
          </a:p>
          <a:p>
            <a:pPr marL="342900" lvl="0" indent="-342900">
              <a:buFont typeface="Arial" panose="020B0604020202020204" pitchFamily="34" charset="0"/>
              <a:buChar char="•"/>
            </a:pPr>
            <a:r>
              <a:rPr lang="en-IN" sz="2400" dirty="0"/>
              <a:t>Provides probability for each disease class </a:t>
            </a:r>
          </a:p>
          <a:p>
            <a:pPr marL="342900" indent="-342900">
              <a:buFont typeface="Arial" panose="020B0604020202020204" pitchFamily="34" charset="0"/>
              <a:buChar char="•"/>
            </a:pPr>
            <a:r>
              <a:rPr lang="en-IN" sz="2400" b="1" dirty="0"/>
              <a:t>Flow:</a:t>
            </a:r>
            <a:br>
              <a:rPr lang="en-IN" sz="2400" dirty="0"/>
            </a:br>
            <a:r>
              <a:rPr lang="en-IN" sz="2400" dirty="0"/>
              <a:t>Patient Features → Multinomial Logistic Regression → Disease Prediction</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rPr>
              <a:t>Proposed Solution</a:t>
            </a:r>
            <a:endParaRPr lang="en-US" sz="3200" b="1" dirty="0">
              <a:solidFill>
                <a:schemeClr val="bg1"/>
              </a:solidFill>
            </a:endParaRPr>
          </a:p>
        </p:txBody>
      </p:sp>
      <p:sp>
        <p:nvSpPr>
          <p:cNvPr id="5" name="TextBox 4">
            <a:extLst>
              <a:ext uri="{FF2B5EF4-FFF2-40B4-BE49-F238E27FC236}">
                <a16:creationId xmlns:a16="http://schemas.microsoft.com/office/drawing/2014/main" id="{0C213069-81E1-1E5B-1F87-42379FD8F57A}"/>
              </a:ext>
            </a:extLst>
          </p:cNvPr>
          <p:cNvSpPr txBox="1"/>
          <p:nvPr/>
        </p:nvSpPr>
        <p:spPr>
          <a:xfrm>
            <a:off x="2806182" y="907046"/>
            <a:ext cx="8866414" cy="5262979"/>
          </a:xfrm>
          <a:prstGeom prst="rect">
            <a:avLst/>
          </a:prstGeom>
          <a:noFill/>
        </p:spPr>
        <p:txBody>
          <a:bodyPr wrap="square">
            <a:spAutoFit/>
          </a:bodyPr>
          <a:lstStyle/>
          <a:p>
            <a:pPr>
              <a:buNone/>
            </a:pPr>
            <a:r>
              <a:rPr lang="en-IN" sz="2400" dirty="0"/>
              <a:t>Our proposed system uses machine learning to predict the disease category from patient symptoms and profile information.</a:t>
            </a:r>
          </a:p>
          <a:p>
            <a:pPr>
              <a:buNone/>
            </a:pPr>
            <a:r>
              <a:rPr lang="en-IN" sz="2400" b="1" dirty="0"/>
              <a:t>Process:</a:t>
            </a:r>
            <a:endParaRPr lang="en-IN" sz="2400" dirty="0"/>
          </a:p>
          <a:p>
            <a:pPr marL="342900" lvl="0" indent="-342900">
              <a:buFont typeface="+mj-lt"/>
              <a:buAutoNum type="arabicPeriod"/>
            </a:pPr>
            <a:r>
              <a:rPr lang="en-IN" sz="2400" b="1" dirty="0"/>
              <a:t>Patient Data Collection</a:t>
            </a:r>
            <a:br>
              <a:rPr lang="en-IN" sz="2400" dirty="0"/>
            </a:br>
            <a:r>
              <a:rPr lang="en-IN" sz="2400" dirty="0"/>
              <a:t>Collect symptoms and patient profile information. </a:t>
            </a:r>
          </a:p>
          <a:p>
            <a:pPr marL="342900" lvl="0" indent="-342900">
              <a:buFont typeface="+mj-lt"/>
              <a:buAutoNum type="arabicPeriod"/>
            </a:pPr>
            <a:r>
              <a:rPr lang="en-IN" sz="2400" b="1" dirty="0"/>
              <a:t>Data Preprocessing</a:t>
            </a:r>
            <a:br>
              <a:rPr lang="en-IN" sz="2400" dirty="0"/>
            </a:br>
            <a:r>
              <a:rPr lang="en-IN" sz="2400" dirty="0"/>
              <a:t>Clean the data and convert categorical values into numerical form. </a:t>
            </a:r>
          </a:p>
          <a:p>
            <a:pPr marL="342900" lvl="0" indent="-342900">
              <a:buFont typeface="+mj-lt"/>
              <a:buAutoNum type="arabicPeriod"/>
            </a:pPr>
            <a:r>
              <a:rPr lang="en-IN" sz="2400" b="1" dirty="0"/>
              <a:t>Feature Preparation</a:t>
            </a:r>
            <a:br>
              <a:rPr lang="en-IN" sz="2400" dirty="0"/>
            </a:br>
            <a:r>
              <a:rPr lang="en-IN" sz="2400" dirty="0"/>
              <a:t>Prepare the selected input features for model training. </a:t>
            </a:r>
          </a:p>
          <a:p>
            <a:pPr marL="342900" lvl="0" indent="-342900">
              <a:buFont typeface="+mj-lt"/>
              <a:buAutoNum type="arabicPeriod"/>
            </a:pPr>
            <a:r>
              <a:rPr lang="en-IN" sz="2400" b="1" dirty="0"/>
              <a:t>Model Training</a:t>
            </a:r>
            <a:br>
              <a:rPr lang="en-IN" sz="2400" dirty="0"/>
            </a:br>
            <a:r>
              <a:rPr lang="en-IN" sz="2400" dirty="0"/>
              <a:t>Train the Multinomial Logistic Regression model using the prepared dataset. </a:t>
            </a:r>
          </a:p>
          <a:p>
            <a:pPr marL="342900" lvl="0" indent="-342900">
              <a:buFont typeface="+mj-lt"/>
              <a:buAutoNum type="arabicPeriod"/>
            </a:pPr>
            <a:r>
              <a:rPr lang="en-IN" sz="2400" b="1" dirty="0"/>
              <a:t>Disease Prediction</a:t>
            </a:r>
            <a:br>
              <a:rPr lang="en-IN" sz="2400" dirty="0"/>
            </a:br>
            <a:r>
              <a:rPr lang="en-IN" sz="2400" dirty="0"/>
              <a:t>Use the trained model to predict the most likely disease category</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rPr>
              <a:t>Disease Prediction &amp; Workflow</a:t>
            </a:r>
            <a:endParaRPr lang="en-US" sz="2800" b="1" dirty="0">
              <a:solidFill>
                <a:schemeClr val="bg1"/>
              </a:solidFill>
            </a:endParaRPr>
          </a:p>
        </p:txBody>
      </p:sp>
      <p:sp>
        <p:nvSpPr>
          <p:cNvPr id="4" name="TextBox 3">
            <a:extLst>
              <a:ext uri="{FF2B5EF4-FFF2-40B4-BE49-F238E27FC236}">
                <a16:creationId xmlns:a16="http://schemas.microsoft.com/office/drawing/2014/main" id="{00D86494-7EBA-D168-3142-37C2B047DAFC}"/>
              </a:ext>
            </a:extLst>
          </p:cNvPr>
          <p:cNvSpPr txBox="1"/>
          <p:nvPr/>
        </p:nvSpPr>
        <p:spPr>
          <a:xfrm>
            <a:off x="3096445" y="1015619"/>
            <a:ext cx="7324121" cy="5539978"/>
          </a:xfrm>
          <a:prstGeom prst="rect">
            <a:avLst/>
          </a:prstGeom>
          <a:noFill/>
        </p:spPr>
        <p:txBody>
          <a:bodyPr wrap="none" rtlCol="0">
            <a:spAutoFit/>
          </a:bodyPr>
          <a:lstStyle/>
          <a:p>
            <a:pPr marL="342900" lvl="0" indent="-342900" algn="just">
              <a:buFont typeface="Arial" panose="020B0604020202020204" pitchFamily="34" charset="0"/>
              <a:buChar char="•"/>
            </a:pPr>
            <a:r>
              <a:rPr lang="en-IN" sz="2400" b="1" dirty="0"/>
              <a:t>Dataset</a:t>
            </a:r>
            <a:br>
              <a:rPr lang="en-IN" sz="2400" dirty="0"/>
            </a:br>
            <a:r>
              <a:rPr lang="en-IN" sz="2400" dirty="0"/>
              <a:t>Disease Symptoms &amp; Patient Profile Dataset </a:t>
            </a:r>
          </a:p>
          <a:p>
            <a:pPr marL="342900" lvl="0" indent="-342900" algn="just">
              <a:buFont typeface="Arial" panose="020B0604020202020204" pitchFamily="34" charset="0"/>
              <a:buChar char="•"/>
            </a:pPr>
            <a:r>
              <a:rPr lang="en-IN" sz="2400" b="1" dirty="0"/>
              <a:t>Data Preprocessing</a:t>
            </a:r>
            <a:br>
              <a:rPr lang="en-IN" sz="2400" dirty="0"/>
            </a:br>
            <a:r>
              <a:rPr lang="en-IN" sz="2400" dirty="0"/>
              <a:t>Clean data + encode categorical features </a:t>
            </a:r>
          </a:p>
          <a:p>
            <a:pPr marL="342900" lvl="0" indent="-342900" algn="just">
              <a:buFont typeface="Arial" panose="020B0604020202020204" pitchFamily="34" charset="0"/>
              <a:buChar char="•"/>
            </a:pPr>
            <a:r>
              <a:rPr lang="en-IN" sz="2400" b="1" dirty="0"/>
              <a:t>Feature Preparation</a:t>
            </a:r>
            <a:br>
              <a:rPr lang="en-IN" sz="2400" dirty="0"/>
            </a:br>
            <a:r>
              <a:rPr lang="en-IN" sz="2400" dirty="0"/>
              <a:t>Prepare the selected input features for model training </a:t>
            </a:r>
          </a:p>
          <a:p>
            <a:pPr marL="342900" lvl="0" indent="-342900" algn="just">
              <a:buFont typeface="Arial" panose="020B0604020202020204" pitchFamily="34" charset="0"/>
              <a:buChar char="•"/>
            </a:pPr>
            <a:r>
              <a:rPr lang="en-IN" sz="2400" b="1" dirty="0"/>
              <a:t>Train-Test Split</a:t>
            </a:r>
            <a:br>
              <a:rPr lang="en-IN" sz="2400" dirty="0"/>
            </a:br>
            <a:r>
              <a:rPr lang="en-IN" sz="2400" dirty="0"/>
              <a:t>Divide data into training and testing sets </a:t>
            </a:r>
          </a:p>
          <a:p>
            <a:pPr marL="342900" lvl="0" indent="-342900" algn="just">
              <a:buFont typeface="Arial" panose="020B0604020202020204" pitchFamily="34" charset="0"/>
              <a:buChar char="•"/>
            </a:pPr>
            <a:r>
              <a:rPr lang="en-IN" sz="2400" b="1" dirty="0"/>
              <a:t>Model Training</a:t>
            </a:r>
            <a:br>
              <a:rPr lang="en-IN" sz="2400" dirty="0"/>
            </a:br>
            <a:r>
              <a:rPr lang="en-IN" sz="2400" dirty="0"/>
              <a:t>Multinomial Logistic Regression </a:t>
            </a:r>
          </a:p>
          <a:p>
            <a:pPr marL="342900" lvl="0" indent="-342900" algn="just">
              <a:buFont typeface="Arial" panose="020B0604020202020204" pitchFamily="34" charset="0"/>
              <a:buChar char="•"/>
            </a:pPr>
            <a:r>
              <a:rPr lang="en-IN" sz="2400" b="1" dirty="0"/>
              <a:t>Prediction</a:t>
            </a:r>
            <a:br>
              <a:rPr lang="en-IN" sz="2400" dirty="0"/>
            </a:br>
            <a:r>
              <a:rPr lang="en-IN" sz="2400" dirty="0"/>
              <a:t>Predict disease category </a:t>
            </a:r>
          </a:p>
          <a:p>
            <a:pPr marL="342900" lvl="0" indent="-342900" algn="just">
              <a:buFont typeface="Arial" panose="020B0604020202020204" pitchFamily="34" charset="0"/>
              <a:buChar char="•"/>
            </a:pPr>
            <a:r>
              <a:rPr lang="en-IN" sz="2400" b="1" dirty="0"/>
              <a:t>Evaluation</a:t>
            </a:r>
            <a:br>
              <a:rPr lang="en-IN" sz="2400" dirty="0"/>
            </a:br>
            <a:r>
              <a:rPr lang="en-IN" sz="2400" dirty="0"/>
              <a:t>Accuracy, Precision, Recall &amp; F1-Score</a:t>
            </a:r>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8" y="221673"/>
            <a:ext cx="5650487"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3860562" y="154134"/>
            <a:ext cx="5401577" cy="584775"/>
          </a:xfrm>
          <a:prstGeom prst="rect">
            <a:avLst/>
          </a:prstGeom>
          <a:noFill/>
        </p:spPr>
        <p:txBody>
          <a:bodyPr wrap="square" rtlCol="0">
            <a:spAutoFit/>
          </a:bodyPr>
          <a:lstStyle/>
          <a:p>
            <a:pPr algn="ctr"/>
            <a:r>
              <a:rPr lang="en-US" sz="3200" b="1" dirty="0">
                <a:solidFill>
                  <a:schemeClr val="bg1"/>
                </a:solidFill>
              </a:rPr>
              <a:t>Conclusion &amp; Future Scope</a:t>
            </a:r>
          </a:p>
        </p:txBody>
      </p:sp>
      <p:sp>
        <p:nvSpPr>
          <p:cNvPr id="4" name="TextBox 3">
            <a:extLst>
              <a:ext uri="{FF2B5EF4-FFF2-40B4-BE49-F238E27FC236}">
                <a16:creationId xmlns:a16="http://schemas.microsoft.com/office/drawing/2014/main" id="{E7FE8F34-F1C1-417A-2FBB-CDEC9852DD81}"/>
              </a:ext>
            </a:extLst>
          </p:cNvPr>
          <p:cNvSpPr txBox="1"/>
          <p:nvPr/>
        </p:nvSpPr>
        <p:spPr>
          <a:xfrm>
            <a:off x="2967134" y="982176"/>
            <a:ext cx="8640186" cy="4893647"/>
          </a:xfrm>
          <a:prstGeom prst="rect">
            <a:avLst/>
          </a:prstGeom>
          <a:noFill/>
        </p:spPr>
        <p:txBody>
          <a:bodyPr wrap="none" rtlCol="0">
            <a:spAutoFit/>
          </a:bodyPr>
          <a:lstStyle/>
          <a:p>
            <a:pPr marL="342900" indent="-342900" algn="just">
              <a:buFont typeface="Arial" panose="020B0604020202020204" pitchFamily="34" charset="0"/>
              <a:buChar char="•"/>
            </a:pPr>
            <a:r>
              <a:rPr lang="en-IN" sz="2400" b="1" dirty="0"/>
              <a:t>CONCLUSION</a:t>
            </a:r>
            <a:endParaRPr lang="en-IN" sz="2400" dirty="0"/>
          </a:p>
          <a:p>
            <a:pPr lvl="0" algn="just"/>
            <a:r>
              <a:rPr lang="en-IN" sz="2400" dirty="0"/>
              <a:t>Developed a multi-class disease prediction system. </a:t>
            </a:r>
          </a:p>
          <a:p>
            <a:pPr lvl="0" algn="just"/>
            <a:r>
              <a:rPr lang="en-IN" sz="2400" dirty="0"/>
              <a:t>Used patient symptoms and profile information as input. </a:t>
            </a:r>
          </a:p>
          <a:p>
            <a:pPr lvl="0" algn="just"/>
            <a:r>
              <a:rPr lang="en-IN" sz="2400" dirty="0"/>
              <a:t>Applied Multinomial Logistic Regression. </a:t>
            </a:r>
          </a:p>
          <a:p>
            <a:pPr lvl="0" algn="just"/>
            <a:r>
              <a:rPr lang="en-IN" sz="2400" dirty="0"/>
              <a:t>Provides a data-driven approach for preliminary disease prediction. </a:t>
            </a:r>
          </a:p>
          <a:p>
            <a:pPr lvl="0" algn="just"/>
            <a:r>
              <a:rPr lang="en-IN" sz="2400" dirty="0"/>
              <a:t>Demonstrates ML application in healthcare. </a:t>
            </a:r>
          </a:p>
          <a:p>
            <a:pPr lvl="0" algn="just"/>
            <a:endParaRPr lang="en-IN" sz="2400" dirty="0"/>
          </a:p>
          <a:p>
            <a:pPr marL="342900" lvl="0" indent="-342900" algn="just">
              <a:buFont typeface="Arial" panose="020B0604020202020204" pitchFamily="34" charset="0"/>
              <a:buChar char="•"/>
            </a:pPr>
            <a:r>
              <a:rPr lang="en-IN" sz="2400" b="1" dirty="0"/>
              <a:t>FUTURE SCOPE</a:t>
            </a:r>
            <a:endParaRPr lang="en-IN" sz="2400" dirty="0"/>
          </a:p>
          <a:p>
            <a:pPr lvl="0" algn="just"/>
            <a:r>
              <a:rPr lang="en-IN" sz="2400" dirty="0"/>
              <a:t>Add more symptoms and medical features. </a:t>
            </a:r>
          </a:p>
          <a:p>
            <a:pPr lvl="0" algn="just"/>
            <a:r>
              <a:rPr lang="en-IN" sz="2400" dirty="0"/>
              <a:t>Use larger and more diverse datasets. </a:t>
            </a:r>
          </a:p>
          <a:p>
            <a:pPr lvl="0" algn="just"/>
            <a:r>
              <a:rPr lang="en-IN" sz="2400" dirty="0"/>
              <a:t>Compare with other ML algorithms. </a:t>
            </a:r>
          </a:p>
          <a:p>
            <a:pPr lvl="0" algn="just"/>
            <a:r>
              <a:rPr lang="en-IN" sz="2400" dirty="0"/>
              <a:t>Develop a web/mobile prototype. </a:t>
            </a:r>
          </a:p>
          <a:p>
            <a:pPr lvl="0" algn="just"/>
            <a:r>
              <a:rPr lang="en-IN" sz="2400" dirty="0"/>
              <a:t>Explore advanced ML and deep learning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633</Words>
  <Application>Microsoft Office PowerPoint</Application>
  <PresentationFormat>Widescreen</PresentationFormat>
  <Paragraphs>93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-apple-system-body</vt:lpstr>
      <vt:lpstr>Aptos</vt:lpstr>
      <vt:lpstr>Arial</vt:lpstr>
      <vt:lpstr>Calibri</vt:lpstr>
      <vt:lpstr>Times New Roman</vt:lpstr>
      <vt:lpstr>Office Theme</vt:lpstr>
      <vt:lpstr>     MACHINE LEARNING(25SC2107E)  MULTI-CLASS DISEASE DIAGNOSIS USING MULTINOMIAL 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Geriganti varshini</cp:lastModifiedBy>
  <cp:revision>21</cp:revision>
  <dcterms:created xsi:type="dcterms:W3CDTF">2024-08-29T05:25:00Z</dcterms:created>
  <dcterms:modified xsi:type="dcterms:W3CDTF">2026-09-29T10:13:16Z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