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317" r:id="rId5"/>
    <p:sldId id="323" r:id="rId6"/>
    <p:sldId id="321" r:id="rId7"/>
    <p:sldId id="324" r:id="rId8"/>
    <p:sldId id="326" r:id="rId9"/>
    <p:sldId id="330" r:id="rId10"/>
    <p:sldId id="327" r:id="rId11"/>
    <p:sldId id="328" r:id="rId12"/>
    <p:sldId id="329" r:id="rId13"/>
    <p:sldId id="30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29D794-EFBB-4A49-AE7B-EA398BBA4763}" v="10" dt="2026-08-29T00:32:57.832"/>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105" d="100"/>
          <a:sy n="105" d="100"/>
        </p:scale>
        <p:origin x="834" y="114"/>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Geethika Chowdary" userId="f74ba16347d03dc8" providerId="LiveId" clId="{AB29D794-EFBB-4A49-AE7B-EA398BBA4763}"/>
    <pc:docChg chg="custSel delSld modSld">
      <pc:chgData name="M.Geethika Chowdary" userId="f74ba16347d03dc8" providerId="LiveId" clId="{AB29D794-EFBB-4A49-AE7B-EA398BBA4763}" dt="2026-08-29T00:32:59.058" v="116" actId="962"/>
      <pc:docMkLst>
        <pc:docMk/>
      </pc:docMkLst>
      <pc:sldChg chg="del">
        <pc:chgData name="M.Geethika Chowdary" userId="f74ba16347d03dc8" providerId="LiveId" clId="{AB29D794-EFBB-4A49-AE7B-EA398BBA4763}" dt="2026-08-28T16:02:56.952" v="110" actId="47"/>
        <pc:sldMkLst>
          <pc:docMk/>
          <pc:sldMk cId="586478555" sldId="307"/>
        </pc:sldMkLst>
      </pc:sldChg>
      <pc:sldChg chg="addSp delSp modSp mod">
        <pc:chgData name="M.Geethika Chowdary" userId="f74ba16347d03dc8" providerId="LiveId" clId="{AB29D794-EFBB-4A49-AE7B-EA398BBA4763}" dt="2026-08-29T00:32:59.058" v="116" actId="962"/>
        <pc:sldMkLst>
          <pc:docMk/>
          <pc:sldMk cId="1786296435" sldId="326"/>
        </pc:sldMkLst>
        <pc:spChg chg="add del mod">
          <ac:chgData name="M.Geethika Chowdary" userId="f74ba16347d03dc8" providerId="LiveId" clId="{AB29D794-EFBB-4A49-AE7B-EA398BBA4763}" dt="2026-08-29T00:32:57.832" v="114" actId="931"/>
          <ac:spMkLst>
            <pc:docMk/>
            <pc:sldMk cId="1786296435" sldId="326"/>
            <ac:spMk id="6" creationId="{6BD13581-9F41-F9C1-E80C-CDA0D6CE1EF1}"/>
          </ac:spMkLst>
        </pc:spChg>
        <pc:spChg chg="add del mod">
          <ac:chgData name="M.Geethika Chowdary" userId="f74ba16347d03dc8" providerId="LiveId" clId="{AB29D794-EFBB-4A49-AE7B-EA398BBA4763}" dt="2026-08-28T15:58:10.309" v="1" actId="931"/>
          <ac:spMkLst>
            <pc:docMk/>
            <pc:sldMk cId="1786296435" sldId="326"/>
            <ac:spMk id="6" creationId="{D97897D2-84DA-BEF4-80B0-8130277472C3}"/>
          </ac:spMkLst>
        </pc:spChg>
        <pc:picChg chg="add mod">
          <ac:chgData name="M.Geethika Chowdary" userId="f74ba16347d03dc8" providerId="LiveId" clId="{AB29D794-EFBB-4A49-AE7B-EA398BBA4763}" dt="2026-08-29T00:32:59.058" v="116" actId="962"/>
          <ac:picMkLst>
            <pc:docMk/>
            <pc:sldMk cId="1786296435" sldId="326"/>
            <ac:picMk id="7" creationId="{EB86D21B-596A-B9F5-D697-692AC6C36CC5}"/>
          </ac:picMkLst>
        </pc:picChg>
        <pc:picChg chg="add del mod">
          <ac:chgData name="M.Geethika Chowdary" userId="f74ba16347d03dc8" providerId="LiveId" clId="{AB29D794-EFBB-4A49-AE7B-EA398BBA4763}" dt="2026-08-28T16:05:18.732" v="113" actId="478"/>
          <ac:picMkLst>
            <pc:docMk/>
            <pc:sldMk cId="1786296435" sldId="326"/>
            <ac:picMk id="8" creationId="{C81F2BF0-18F9-5DAD-8AE6-9566AEC013A4}"/>
          </ac:picMkLst>
        </pc:picChg>
        <pc:picChg chg="del">
          <ac:chgData name="M.Geethika Chowdary" userId="f74ba16347d03dc8" providerId="LiveId" clId="{AB29D794-EFBB-4A49-AE7B-EA398BBA4763}" dt="2026-08-28T15:57:36.688" v="0" actId="478"/>
          <ac:picMkLst>
            <pc:docMk/>
            <pc:sldMk cId="1786296435" sldId="326"/>
            <ac:picMk id="11" creationId="{D0F80EAE-3412-7FC8-E73E-A8879BAF3530}"/>
          </ac:picMkLst>
        </pc:picChg>
      </pc:sldChg>
      <pc:sldChg chg="modSp mod">
        <pc:chgData name="M.Geethika Chowdary" userId="f74ba16347d03dc8" providerId="LiveId" clId="{AB29D794-EFBB-4A49-AE7B-EA398BBA4763}" dt="2026-08-28T16:03:11.496" v="111" actId="1076"/>
        <pc:sldMkLst>
          <pc:docMk/>
          <pc:sldMk cId="2403882891" sldId="327"/>
        </pc:sldMkLst>
        <pc:spChg chg="mod">
          <ac:chgData name="M.Geethika Chowdary" userId="f74ba16347d03dc8" providerId="LiveId" clId="{AB29D794-EFBB-4A49-AE7B-EA398BBA4763}" dt="2026-08-28T16:03:11.496" v="111" actId="1076"/>
          <ac:spMkLst>
            <pc:docMk/>
            <pc:sldMk cId="2403882891" sldId="327"/>
            <ac:spMk id="6" creationId="{05491AC3-EA50-6C1D-9A5D-37A8FDFC972A}"/>
          </ac:spMkLst>
        </pc:spChg>
      </pc:sldChg>
      <pc:sldChg chg="modSp mod">
        <pc:chgData name="M.Geethika Chowdary" userId="f74ba16347d03dc8" providerId="LiveId" clId="{AB29D794-EFBB-4A49-AE7B-EA398BBA4763}" dt="2026-08-28T16:02:03.469" v="105"/>
        <pc:sldMkLst>
          <pc:docMk/>
          <pc:sldMk cId="1204497435" sldId="328"/>
        </pc:sldMkLst>
        <pc:spChg chg="mod">
          <ac:chgData name="M.Geethika Chowdary" userId="f74ba16347d03dc8" providerId="LiveId" clId="{AB29D794-EFBB-4A49-AE7B-EA398BBA4763}" dt="2026-08-28T16:02:03.469" v="105"/>
          <ac:spMkLst>
            <pc:docMk/>
            <pc:sldMk cId="1204497435" sldId="328"/>
            <ac:spMk id="6" creationId="{209F246C-6BFD-620D-D82A-D5DEDDBF2755}"/>
          </ac:spMkLst>
        </pc:spChg>
      </pc:sldChg>
      <pc:sldChg chg="modSp mod">
        <pc:chgData name="M.Geethika Chowdary" userId="f74ba16347d03dc8" providerId="LiveId" clId="{AB29D794-EFBB-4A49-AE7B-EA398BBA4763}" dt="2026-08-28T16:02:29.742" v="109"/>
        <pc:sldMkLst>
          <pc:docMk/>
          <pc:sldMk cId="2017192188" sldId="329"/>
        </pc:sldMkLst>
        <pc:spChg chg="mod">
          <ac:chgData name="M.Geethika Chowdary" userId="f74ba16347d03dc8" providerId="LiveId" clId="{AB29D794-EFBB-4A49-AE7B-EA398BBA4763}" dt="2026-08-28T16:02:21.287" v="108" actId="5793"/>
          <ac:spMkLst>
            <pc:docMk/>
            <pc:sldMk cId="2017192188" sldId="329"/>
            <ac:spMk id="3" creationId="{00449C41-8018-3111-139D-93D0BE9A7709}"/>
          </ac:spMkLst>
        </pc:spChg>
        <pc:spChg chg="mod">
          <ac:chgData name="M.Geethika Chowdary" userId="f74ba16347d03dc8" providerId="LiveId" clId="{AB29D794-EFBB-4A49-AE7B-EA398BBA4763}" dt="2026-08-28T16:02:29.742" v="109"/>
          <ac:spMkLst>
            <pc:docMk/>
            <pc:sldMk cId="2017192188" sldId="329"/>
            <ac:spMk id="4" creationId="{312617AB-410B-FD42-19F9-637089D6AB69}"/>
          </ac:spMkLst>
        </pc:spChg>
      </pc:sldChg>
      <pc:sldChg chg="addSp delSp modSp mod">
        <pc:chgData name="M.Geethika Chowdary" userId="f74ba16347d03dc8" providerId="LiveId" clId="{AB29D794-EFBB-4A49-AE7B-EA398BBA4763}" dt="2026-08-28T16:00:10.002" v="26" actId="1076"/>
        <pc:sldMkLst>
          <pc:docMk/>
          <pc:sldMk cId="1539151373" sldId="330"/>
        </pc:sldMkLst>
        <pc:spChg chg="mod">
          <ac:chgData name="M.Geethika Chowdary" userId="f74ba16347d03dc8" providerId="LiveId" clId="{AB29D794-EFBB-4A49-AE7B-EA398BBA4763}" dt="2026-08-28T16:00:05.570" v="25" actId="1076"/>
          <ac:spMkLst>
            <pc:docMk/>
            <pc:sldMk cId="1539151373" sldId="330"/>
            <ac:spMk id="5" creationId="{69C7D304-C283-12B5-8361-FD527BA19FA6}"/>
          </ac:spMkLst>
        </pc:spChg>
        <pc:spChg chg="add mod">
          <ac:chgData name="M.Geethika Chowdary" userId="f74ba16347d03dc8" providerId="LiveId" clId="{AB29D794-EFBB-4A49-AE7B-EA398BBA4763}" dt="2026-08-28T16:00:10.002" v="26" actId="1076"/>
          <ac:spMkLst>
            <pc:docMk/>
            <pc:sldMk cId="1539151373" sldId="330"/>
            <ac:spMk id="6" creationId="{CAF59DC4-3423-E0B6-DB52-87434081954A}"/>
          </ac:spMkLst>
        </pc:spChg>
        <pc:graphicFrameChg chg="del modGraphic">
          <ac:chgData name="M.Geethika Chowdary" userId="f74ba16347d03dc8" providerId="LiveId" clId="{AB29D794-EFBB-4A49-AE7B-EA398BBA4763}" dt="2026-08-28T15:59:09.698" v="7" actId="478"/>
          <ac:graphicFrameMkLst>
            <pc:docMk/>
            <pc:sldMk cId="1539151373" sldId="330"/>
            <ac:graphicFrameMk id="3" creationId="{921A3DE4-2F16-64E8-77F1-7FD5C9AB0622}"/>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8/29/2026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8/29/2026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50976" y="585216"/>
            <a:ext cx="10524744" cy="4754880"/>
          </a:xfrm>
        </p:spPr>
        <p:txBody>
          <a:bodyPr anchor="ctr"/>
          <a:lstStyle/>
          <a:p>
            <a:r>
              <a:rPr lang="en-IN" dirty="0">
                <a:latin typeface="Algerian" panose="04020705040A02060702" pitchFamily="82" charset="0"/>
              </a:rPr>
              <a:t>Multi-Class Disease Diagnosis </a:t>
            </a:r>
            <a:br>
              <a:rPr lang="en-IN" dirty="0">
                <a:latin typeface="Algerian" panose="04020705040A02060702" pitchFamily="82" charset="0"/>
              </a:rPr>
            </a:br>
            <a:r>
              <a:rPr lang="en-IN" sz="3600" dirty="0"/>
              <a:t>Using Multinomial Logistic Regression</a:t>
            </a:r>
            <a:endParaRPr lang="en-US" sz="3600" dirty="0">
              <a:latin typeface="Algerian" panose="04020705040A02060702" pitchFamily="82" charset="0"/>
            </a:endParaRPr>
          </a:p>
        </p:txBody>
      </p:sp>
      <p:sp>
        <p:nvSpPr>
          <p:cNvPr id="2" name="TextBox 1">
            <a:extLst>
              <a:ext uri="{FF2B5EF4-FFF2-40B4-BE49-F238E27FC236}">
                <a16:creationId xmlns:a16="http://schemas.microsoft.com/office/drawing/2014/main" id="{44FD3B85-B7D7-4E0B-B4D2-A1F7365E53BF}"/>
              </a:ext>
            </a:extLst>
          </p:cNvPr>
          <p:cNvSpPr txBox="1"/>
          <p:nvPr/>
        </p:nvSpPr>
        <p:spPr>
          <a:xfrm>
            <a:off x="7590717" y="6089225"/>
            <a:ext cx="4281243" cy="646331"/>
          </a:xfrm>
          <a:prstGeom prst="rect">
            <a:avLst/>
          </a:prstGeom>
          <a:noFill/>
        </p:spPr>
        <p:txBody>
          <a:bodyPr wrap="square" rtlCol="0">
            <a:spAutoFit/>
          </a:bodyPr>
          <a:lstStyle/>
          <a:p>
            <a:r>
              <a:rPr lang="en-US" b="1" dirty="0">
                <a:latin typeface="Aptos" panose="020B0004020202020204" pitchFamily="34" charset="0"/>
                <a:cs typeface="Arial" panose="020B0604020202020204" pitchFamily="34" charset="0"/>
              </a:rPr>
              <a:t>G. Varshini - 2520030017 </a:t>
            </a:r>
          </a:p>
          <a:p>
            <a:r>
              <a:rPr lang="en-US" b="1" dirty="0">
                <a:latin typeface="Aptos" panose="020B0004020202020204" pitchFamily="34" charset="0"/>
                <a:cs typeface="Arial" panose="020B0604020202020204" pitchFamily="34" charset="0"/>
              </a:rPr>
              <a:t>M. Geethika Chowdary - 2520030056</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EF686-23D9-CDFE-6BC1-72E1350A493E}"/>
              </a:ext>
            </a:extLst>
          </p:cNvPr>
          <p:cNvSpPr>
            <a:spLocks noGrp="1"/>
          </p:cNvSpPr>
          <p:nvPr>
            <p:ph type="title"/>
          </p:nvPr>
        </p:nvSpPr>
        <p:spPr>
          <a:xfrm>
            <a:off x="832104" y="484633"/>
            <a:ext cx="10360152" cy="914400"/>
          </a:xfrm>
        </p:spPr>
        <p:txBody>
          <a:bodyPr/>
          <a:lstStyle/>
          <a:p>
            <a:r>
              <a:rPr lang="en-IN" b="1" dirty="0">
                <a:latin typeface="Times New Roman" panose="02020603050405020304" pitchFamily="18" charset="0"/>
                <a:cs typeface="Times New Roman" panose="02020603050405020304" pitchFamily="18" charset="0"/>
              </a:rPr>
              <a:t>Problem Statement &amp; Objectives</a:t>
            </a:r>
            <a:endParaRPr lang="en-IN" dirty="0"/>
          </a:p>
        </p:txBody>
      </p:sp>
      <p:sp>
        <p:nvSpPr>
          <p:cNvPr id="3" name="Content Placeholder 2">
            <a:extLst>
              <a:ext uri="{FF2B5EF4-FFF2-40B4-BE49-F238E27FC236}">
                <a16:creationId xmlns:a16="http://schemas.microsoft.com/office/drawing/2014/main" id="{A03482CF-8F6C-2C33-2ECF-8EAACBF44D3D}"/>
              </a:ext>
            </a:extLst>
          </p:cNvPr>
          <p:cNvSpPr>
            <a:spLocks noGrp="1"/>
          </p:cNvSpPr>
          <p:nvPr>
            <p:ph sz="quarter" idx="11"/>
          </p:nvPr>
        </p:nvSpPr>
        <p:spPr/>
        <p:txBody>
          <a:bodyPr/>
          <a:lstStyle/>
          <a:p>
            <a:r>
              <a:rPr lang="en-US" b="1" dirty="0"/>
              <a:t>Problem Statement</a:t>
            </a:r>
          </a:p>
          <a:p>
            <a:r>
              <a:rPr lang="en-US" dirty="0"/>
              <a:t>Disease diagnosis requires analysis of multiple symptoms and patient characteristics. </a:t>
            </a:r>
          </a:p>
          <a:p>
            <a:r>
              <a:rPr lang="en-US" dirty="0"/>
              <a:t>Different diseases may have similar symptoms, making classification challenging. </a:t>
            </a:r>
          </a:p>
          <a:p>
            <a:r>
              <a:rPr lang="en-US" dirty="0"/>
              <a:t>Manual analysis of patient records can be time-consuming. </a:t>
            </a:r>
          </a:p>
          <a:p>
            <a:r>
              <a:rPr lang="en-US" dirty="0"/>
              <a:t>Machine learning can assist in predicting the most likely disease category.</a:t>
            </a:r>
          </a:p>
          <a:p>
            <a:endParaRPr lang="en-IN" dirty="0"/>
          </a:p>
        </p:txBody>
      </p:sp>
      <p:sp>
        <p:nvSpPr>
          <p:cNvPr id="4" name="Content Placeholder 3">
            <a:extLst>
              <a:ext uri="{FF2B5EF4-FFF2-40B4-BE49-F238E27FC236}">
                <a16:creationId xmlns:a16="http://schemas.microsoft.com/office/drawing/2014/main" id="{5A14DA24-AD9A-5F83-D05F-4E7636DEC361}"/>
              </a:ext>
            </a:extLst>
          </p:cNvPr>
          <p:cNvSpPr>
            <a:spLocks noGrp="1"/>
          </p:cNvSpPr>
          <p:nvPr>
            <p:ph sz="quarter" idx="12"/>
          </p:nvPr>
        </p:nvSpPr>
        <p:spPr/>
        <p:txBody>
          <a:bodyPr/>
          <a:lstStyle/>
          <a:p>
            <a:r>
              <a:rPr lang="en-US" b="1" dirty="0"/>
              <a:t>Objectives</a:t>
            </a:r>
            <a:endParaRPr lang="en-US" dirty="0"/>
          </a:p>
          <a:p>
            <a:r>
              <a:rPr lang="en-US" dirty="0"/>
              <a:t>Develop a multi-class disease prediction model. </a:t>
            </a:r>
          </a:p>
          <a:p>
            <a:r>
              <a:rPr lang="en-US" dirty="0"/>
              <a:t>Use symptoms and patient profile information as input features. </a:t>
            </a:r>
          </a:p>
          <a:p>
            <a:r>
              <a:rPr lang="en-US" dirty="0"/>
              <a:t>Apply </a:t>
            </a:r>
            <a:r>
              <a:rPr lang="en-US" b="1" dirty="0"/>
              <a:t>Multinomial Logistic Regression </a:t>
            </a:r>
            <a:r>
              <a:rPr lang="en-US" dirty="0"/>
              <a:t>for disease classification. </a:t>
            </a:r>
          </a:p>
          <a:p>
            <a:r>
              <a:rPr lang="en-US" dirty="0"/>
              <a:t>Evaluate the model using classification metrics.</a:t>
            </a:r>
          </a:p>
          <a:p>
            <a:endParaRPr lang="en-IN" dirty="0"/>
          </a:p>
        </p:txBody>
      </p:sp>
      <p:sp>
        <p:nvSpPr>
          <p:cNvPr id="5" name="Slide Number Placeholder 4">
            <a:extLst>
              <a:ext uri="{FF2B5EF4-FFF2-40B4-BE49-F238E27FC236}">
                <a16:creationId xmlns:a16="http://schemas.microsoft.com/office/drawing/2014/main" id="{B4EE0F15-B32D-02DE-B0EC-F5DCAE7658F8}"/>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2659933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86A701-76FB-D0EF-53E4-62C2420109C2}"/>
              </a:ext>
            </a:extLst>
          </p:cNvPr>
          <p:cNvSpPr>
            <a:spLocks noGrp="1"/>
          </p:cNvSpPr>
          <p:nvPr>
            <p:ph type="sldNum" sz="quarter" idx="4"/>
          </p:nvPr>
        </p:nvSpPr>
        <p:spPr/>
        <p:txBody>
          <a:bodyPr/>
          <a:lstStyle/>
          <a:p>
            <a:fld id="{58FB4751-880F-D840-AAA9-3A15815CC996}" type="slidenum">
              <a:rPr lang="en-US" smtClean="0"/>
              <a:pPr/>
              <a:t>3</a:t>
            </a:fld>
            <a:endParaRPr lang="en-US" dirty="0"/>
          </a:p>
        </p:txBody>
      </p:sp>
      <p:sp>
        <p:nvSpPr>
          <p:cNvPr id="4" name="TextBox 3">
            <a:extLst>
              <a:ext uri="{FF2B5EF4-FFF2-40B4-BE49-F238E27FC236}">
                <a16:creationId xmlns:a16="http://schemas.microsoft.com/office/drawing/2014/main" id="{531B3EEE-7A6D-82D6-FE55-F08CD977CB70}"/>
              </a:ext>
            </a:extLst>
          </p:cNvPr>
          <p:cNvSpPr txBox="1"/>
          <p:nvPr/>
        </p:nvSpPr>
        <p:spPr>
          <a:xfrm>
            <a:off x="555498" y="368546"/>
            <a:ext cx="6103620" cy="830997"/>
          </a:xfrm>
          <a:prstGeom prst="rect">
            <a:avLst/>
          </a:prstGeom>
          <a:noFill/>
        </p:spPr>
        <p:txBody>
          <a:bodyPr wrap="square">
            <a:spAutoFit/>
          </a:bodyPr>
          <a:lstStyle/>
          <a:p>
            <a:r>
              <a:rPr lang="en-IN" sz="4800" b="1" dirty="0"/>
              <a:t>Abstract:</a:t>
            </a:r>
          </a:p>
        </p:txBody>
      </p:sp>
      <p:sp>
        <p:nvSpPr>
          <p:cNvPr id="6" name="TextBox 5">
            <a:extLst>
              <a:ext uri="{FF2B5EF4-FFF2-40B4-BE49-F238E27FC236}">
                <a16:creationId xmlns:a16="http://schemas.microsoft.com/office/drawing/2014/main" id="{6958CE0B-AABD-9699-95FA-E9751E3EE9B8}"/>
              </a:ext>
            </a:extLst>
          </p:cNvPr>
          <p:cNvSpPr txBox="1"/>
          <p:nvPr/>
        </p:nvSpPr>
        <p:spPr>
          <a:xfrm>
            <a:off x="555498" y="1810511"/>
            <a:ext cx="10798302" cy="2659243"/>
          </a:xfrm>
          <a:prstGeom prst="rect">
            <a:avLst/>
          </a:prstGeom>
          <a:noFill/>
        </p:spPr>
        <p:txBody>
          <a:bodyPr wrap="square">
            <a:spAutoFit/>
          </a:bodyPr>
          <a:lstStyle/>
          <a:p>
            <a:r>
              <a:rPr lang="en-US" sz="2400" dirty="0"/>
              <a:t>This project presents a machine learning-based approach for multi-class disease diagnosis using patient symptoms and profile information. The dataset contains features such as fever, cough, fatigue, difficulty breathing, age, gender, blood pressure, and cholesterol level. Multinomial Logistic Regression is used to classify patients into different disease categories. The proposed system processes the patient data, trains the classification model, and predicts the most likely disease. The project demonstrates how machine learning can be used as a decision-support approach for preliminary disease prediction.</a:t>
            </a:r>
            <a:endParaRPr lang="en-IN" sz="2400" dirty="0"/>
          </a:p>
        </p:txBody>
      </p:sp>
    </p:spTree>
    <p:extLst>
      <p:ext uri="{BB962C8B-B14F-4D97-AF65-F5344CB8AC3E}">
        <p14:creationId xmlns:p14="http://schemas.microsoft.com/office/powerpoint/2010/main" val="1508599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4FCA8-7C58-91F2-9E51-090A8C9E5BD5}"/>
              </a:ext>
            </a:extLst>
          </p:cNvPr>
          <p:cNvSpPr>
            <a:spLocks noGrp="1"/>
          </p:cNvSpPr>
          <p:nvPr>
            <p:ph type="title"/>
          </p:nvPr>
        </p:nvSpPr>
        <p:spPr>
          <a:xfrm>
            <a:off x="914400" y="420624"/>
            <a:ext cx="10360152" cy="914400"/>
          </a:xfrm>
        </p:spPr>
        <p:txBody>
          <a:bodyPr/>
          <a:lstStyle/>
          <a:p>
            <a:r>
              <a:rPr lang="en-IN" dirty="0">
                <a:latin typeface="Times New Roman" panose="02020603050405020304" pitchFamily="18" charset="0"/>
                <a:cs typeface="Times New Roman" panose="02020603050405020304" pitchFamily="18" charset="0"/>
              </a:rPr>
              <a:t>Existing System &amp; Limitations</a:t>
            </a:r>
          </a:p>
        </p:txBody>
      </p:sp>
      <p:sp>
        <p:nvSpPr>
          <p:cNvPr id="3" name="Content Placeholder 2">
            <a:extLst>
              <a:ext uri="{FF2B5EF4-FFF2-40B4-BE49-F238E27FC236}">
                <a16:creationId xmlns:a16="http://schemas.microsoft.com/office/drawing/2014/main" id="{821AA187-A890-5BF1-85E2-DCDEA81A2723}"/>
              </a:ext>
            </a:extLst>
          </p:cNvPr>
          <p:cNvSpPr>
            <a:spLocks noGrp="1"/>
          </p:cNvSpPr>
          <p:nvPr>
            <p:ph sz="quarter" idx="11"/>
          </p:nvPr>
        </p:nvSpPr>
        <p:spPr/>
        <p:txBody>
          <a:bodyPr/>
          <a:lstStyle/>
          <a:p>
            <a:r>
              <a:rPr lang="en-US" b="1" dirty="0">
                <a:latin typeface="Times New Roman" panose="02020603050405020304" pitchFamily="18" charset="0"/>
                <a:cs typeface="Times New Roman" panose="02020603050405020304" pitchFamily="18" charset="0"/>
              </a:rPr>
              <a:t>Existing System</a:t>
            </a:r>
          </a:p>
          <a:p>
            <a:endParaRPr lang="en-US" b="1" dirty="0">
              <a:latin typeface="Times New Roman" panose="02020603050405020304" pitchFamily="18" charset="0"/>
              <a:cs typeface="Times New Roman" panose="02020603050405020304" pitchFamily="18" charset="0"/>
            </a:endParaRPr>
          </a:p>
          <a:p>
            <a:r>
              <a:rPr lang="en-US" dirty="0"/>
              <a:t>Traditional disease diagnosis generally involves:</a:t>
            </a:r>
          </a:p>
          <a:p>
            <a:r>
              <a:rPr lang="en-US" dirty="0"/>
              <a:t>Patient consultation with a healthcare professional </a:t>
            </a:r>
          </a:p>
          <a:p>
            <a:r>
              <a:rPr lang="en-US" dirty="0"/>
              <a:t>Collection of medical history </a:t>
            </a:r>
          </a:p>
          <a:p>
            <a:r>
              <a:rPr lang="en-US" dirty="0"/>
              <a:t>Analysis of symptoms </a:t>
            </a:r>
          </a:p>
          <a:p>
            <a:r>
              <a:rPr lang="en-US" dirty="0"/>
              <a:t>Physical examination </a:t>
            </a:r>
          </a:p>
          <a:p>
            <a:r>
              <a:rPr lang="en-US" dirty="0"/>
              <a:t>Laboratory and diagnostic tests</a:t>
            </a:r>
          </a:p>
          <a:p>
            <a:endParaRPr lang="en-IN" dirty="0"/>
          </a:p>
        </p:txBody>
      </p:sp>
      <p:sp>
        <p:nvSpPr>
          <p:cNvPr id="4" name="Content Placeholder 3">
            <a:extLst>
              <a:ext uri="{FF2B5EF4-FFF2-40B4-BE49-F238E27FC236}">
                <a16:creationId xmlns:a16="http://schemas.microsoft.com/office/drawing/2014/main" id="{E59AF392-79D9-30C0-A8DB-6A05C54218B6}"/>
              </a:ext>
            </a:extLst>
          </p:cNvPr>
          <p:cNvSpPr>
            <a:spLocks noGrp="1"/>
          </p:cNvSpPr>
          <p:nvPr>
            <p:ph sz="quarter" idx="12"/>
          </p:nvPr>
        </p:nvSpPr>
        <p:spPr/>
        <p:txBody>
          <a:bodyPr/>
          <a:lstStyle/>
          <a:p>
            <a:r>
              <a:rPr lang="en-US" b="1" dirty="0">
                <a:latin typeface="Times New Roman" panose="02020603050405020304" pitchFamily="18" charset="0"/>
                <a:cs typeface="Times New Roman" panose="02020603050405020304" pitchFamily="18" charset="0"/>
              </a:rPr>
              <a:t>Limitations</a:t>
            </a:r>
          </a:p>
          <a:p>
            <a:endParaRPr lang="en-US" b="1" dirty="0">
              <a:latin typeface="Times New Roman" panose="02020603050405020304" pitchFamily="18" charset="0"/>
              <a:cs typeface="Times New Roman" panose="02020603050405020304" pitchFamily="18" charset="0"/>
            </a:endParaRPr>
          </a:p>
          <a:p>
            <a:r>
              <a:rPr lang="en-US" b="1" dirty="0"/>
              <a:t>Time-consuming</a:t>
            </a:r>
            <a:r>
              <a:rPr lang="en-US" dirty="0"/>
              <a:t> for analyzing large numbers of patients </a:t>
            </a:r>
          </a:p>
          <a:p>
            <a:r>
              <a:rPr lang="en-US" b="1" dirty="0"/>
              <a:t>Manual dependency</a:t>
            </a:r>
            <a:r>
              <a:rPr lang="en-US" dirty="0"/>
              <a:t> on medical expertise </a:t>
            </a:r>
          </a:p>
          <a:p>
            <a:r>
              <a:rPr lang="en-US" dirty="0"/>
              <a:t>Similar symptoms may occur in </a:t>
            </a:r>
            <a:r>
              <a:rPr lang="en-US" b="1" dirty="0"/>
              <a:t>different diseases</a:t>
            </a:r>
            <a:r>
              <a:rPr lang="en-US" dirty="0"/>
              <a:t> </a:t>
            </a:r>
          </a:p>
          <a:p>
            <a:r>
              <a:rPr lang="en-US" dirty="0"/>
              <a:t>Difficult to analyze </a:t>
            </a:r>
            <a:r>
              <a:rPr lang="en-US" b="1" dirty="0"/>
              <a:t>large datasets manually</a:t>
            </a:r>
            <a:r>
              <a:rPr lang="en-US" dirty="0"/>
              <a:t> </a:t>
            </a:r>
          </a:p>
          <a:p>
            <a:r>
              <a:rPr lang="en-US" dirty="0"/>
              <a:t>May not provide a quick preliminary prediction</a:t>
            </a:r>
          </a:p>
          <a:p>
            <a:endParaRPr lang="en-IN" dirty="0"/>
          </a:p>
        </p:txBody>
      </p:sp>
      <p:sp>
        <p:nvSpPr>
          <p:cNvPr id="5" name="Slide Number Placeholder 4">
            <a:extLst>
              <a:ext uri="{FF2B5EF4-FFF2-40B4-BE49-F238E27FC236}">
                <a16:creationId xmlns:a16="http://schemas.microsoft.com/office/drawing/2014/main" id="{527343CE-12D5-5F07-C05A-165B4765535D}"/>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2526545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77316-7C67-19F9-4626-77F1CBB45455}"/>
              </a:ext>
            </a:extLst>
          </p:cNvPr>
          <p:cNvSpPr>
            <a:spLocks noGrp="1"/>
          </p:cNvSpPr>
          <p:nvPr>
            <p:ph type="title"/>
          </p:nvPr>
        </p:nvSpPr>
        <p:spPr>
          <a:xfrm>
            <a:off x="914399" y="457200"/>
            <a:ext cx="10360152" cy="914400"/>
          </a:xfrm>
        </p:spPr>
        <p:txBody>
          <a:bodyPr/>
          <a:lstStyle/>
          <a:p>
            <a:r>
              <a:rPr lang="en-IN" b="1" dirty="0"/>
              <a:t>Exploratory Data Analysis (EDA)</a:t>
            </a:r>
          </a:p>
        </p:txBody>
      </p:sp>
      <p:sp>
        <p:nvSpPr>
          <p:cNvPr id="3" name="Content Placeholder 2">
            <a:extLst>
              <a:ext uri="{FF2B5EF4-FFF2-40B4-BE49-F238E27FC236}">
                <a16:creationId xmlns:a16="http://schemas.microsoft.com/office/drawing/2014/main" id="{CD38190E-FFD5-BE88-C80A-7E2B12A49F9E}"/>
              </a:ext>
            </a:extLst>
          </p:cNvPr>
          <p:cNvSpPr>
            <a:spLocks noGrp="1"/>
          </p:cNvSpPr>
          <p:nvPr>
            <p:ph sz="quarter" idx="13"/>
          </p:nvPr>
        </p:nvSpPr>
        <p:spPr/>
        <p:txBody>
          <a:bodyPr/>
          <a:lstStyle/>
          <a:p>
            <a:pPr marL="0" indent="0">
              <a:buNone/>
            </a:pPr>
            <a:r>
              <a:rPr lang="en-US" b="1" dirty="0">
                <a:latin typeface="Times New Roman" panose="02020603050405020304" pitchFamily="18" charset="0"/>
                <a:cs typeface="Times New Roman" panose="02020603050405020304" pitchFamily="18" charset="0"/>
              </a:rPr>
              <a:t>EDA Steps</a:t>
            </a:r>
          </a:p>
          <a:p>
            <a:r>
              <a:rPr lang="en-US" dirty="0"/>
              <a:t>Checked the structure of the dataset </a:t>
            </a:r>
          </a:p>
          <a:p>
            <a:r>
              <a:rPr lang="en-US" dirty="0"/>
              <a:t>Identified missing values and duplicates </a:t>
            </a:r>
          </a:p>
          <a:p>
            <a:r>
              <a:rPr lang="en-US" dirty="0"/>
              <a:t>Analyzed disease/class distribution </a:t>
            </a:r>
          </a:p>
          <a:p>
            <a:r>
              <a:rPr lang="en-US" dirty="0"/>
              <a:t>Studied patient age and gender distribution </a:t>
            </a:r>
          </a:p>
          <a:p>
            <a:r>
              <a:rPr lang="en-US" dirty="0"/>
              <a:t>Examined relationships between input features</a:t>
            </a:r>
          </a:p>
          <a:p>
            <a:endParaRPr lang="en-IN" dirty="0"/>
          </a:p>
        </p:txBody>
      </p:sp>
      <p:sp>
        <p:nvSpPr>
          <p:cNvPr id="5" name="Slide Number Placeholder 4">
            <a:extLst>
              <a:ext uri="{FF2B5EF4-FFF2-40B4-BE49-F238E27FC236}">
                <a16:creationId xmlns:a16="http://schemas.microsoft.com/office/drawing/2014/main" id="{119CBDB0-33CF-54E3-D13D-7C52D35C9C23}"/>
              </a:ext>
            </a:extLst>
          </p:cNvPr>
          <p:cNvSpPr>
            <a:spLocks noGrp="1"/>
          </p:cNvSpPr>
          <p:nvPr>
            <p:ph type="sldNum" sz="quarter" idx="4"/>
          </p:nvPr>
        </p:nvSpPr>
        <p:spPr/>
        <p:txBody>
          <a:bodyPr/>
          <a:lstStyle/>
          <a:p>
            <a:fld id="{58FB4751-880F-D840-AAA9-3A15815CC996}" type="slidenum">
              <a:rPr lang="en-US" smtClean="0"/>
              <a:pPr/>
              <a:t>5</a:t>
            </a:fld>
            <a:endParaRPr lang="en-US" dirty="0"/>
          </a:p>
        </p:txBody>
      </p:sp>
      <p:pic>
        <p:nvPicPr>
          <p:cNvPr id="7" name="Content Placeholder 6" descr="A group of blue graphs&#10;&#10;AI-generated content may be incorrect.">
            <a:extLst>
              <a:ext uri="{FF2B5EF4-FFF2-40B4-BE49-F238E27FC236}">
                <a16:creationId xmlns:a16="http://schemas.microsoft.com/office/drawing/2014/main" id="{EB86D21B-596A-B9F5-D697-692AC6C36CC5}"/>
              </a:ext>
            </a:extLst>
          </p:cNvPr>
          <p:cNvPicPr>
            <a:picLocks noGrp="1" noChangeAspect="1"/>
          </p:cNvPicPr>
          <p:nvPr>
            <p:ph sz="quarter" idx="12"/>
          </p:nvPr>
        </p:nvPicPr>
        <p:blipFill>
          <a:blip r:embed="rId2"/>
          <a:stretch>
            <a:fillRect/>
          </a:stretch>
        </p:blipFill>
        <p:spPr>
          <a:xfrm>
            <a:off x="6059487" y="2038350"/>
            <a:ext cx="3905250" cy="3905250"/>
          </a:xfrm>
        </p:spPr>
      </p:pic>
    </p:spTree>
    <p:extLst>
      <p:ext uri="{BB962C8B-B14F-4D97-AF65-F5344CB8AC3E}">
        <p14:creationId xmlns:p14="http://schemas.microsoft.com/office/powerpoint/2010/main" val="1786296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543DD2-7793-2BC5-4117-A57781682261}"/>
              </a:ext>
            </a:extLst>
          </p:cNvPr>
          <p:cNvSpPr>
            <a:spLocks noGrp="1"/>
          </p:cNvSpPr>
          <p:nvPr>
            <p:ph type="sldNum" sz="quarter" idx="4"/>
          </p:nvPr>
        </p:nvSpPr>
        <p:spPr/>
        <p:txBody>
          <a:bodyPr/>
          <a:lstStyle/>
          <a:p>
            <a:fld id="{58FB4751-880F-D840-AAA9-3A15815CC996}" type="slidenum">
              <a:rPr lang="en-US" smtClean="0"/>
              <a:pPr/>
              <a:t>6</a:t>
            </a:fld>
            <a:endParaRPr lang="en-US" dirty="0"/>
          </a:p>
        </p:txBody>
      </p:sp>
      <p:sp>
        <p:nvSpPr>
          <p:cNvPr id="5" name="TextBox 4">
            <a:extLst>
              <a:ext uri="{FF2B5EF4-FFF2-40B4-BE49-F238E27FC236}">
                <a16:creationId xmlns:a16="http://schemas.microsoft.com/office/drawing/2014/main" id="{69C7D304-C283-12B5-8361-FD527BA19FA6}"/>
              </a:ext>
            </a:extLst>
          </p:cNvPr>
          <p:cNvSpPr txBox="1"/>
          <p:nvPr/>
        </p:nvSpPr>
        <p:spPr>
          <a:xfrm>
            <a:off x="518922" y="277106"/>
            <a:ext cx="6103620"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Algorithms Used</a:t>
            </a:r>
          </a:p>
        </p:txBody>
      </p:sp>
      <p:sp>
        <p:nvSpPr>
          <p:cNvPr id="6" name="TextBox 5">
            <a:extLst>
              <a:ext uri="{FF2B5EF4-FFF2-40B4-BE49-F238E27FC236}">
                <a16:creationId xmlns:a16="http://schemas.microsoft.com/office/drawing/2014/main" id="{CAF59DC4-3423-E0B6-DB52-87434081954A}"/>
              </a:ext>
            </a:extLst>
          </p:cNvPr>
          <p:cNvSpPr txBox="1"/>
          <p:nvPr/>
        </p:nvSpPr>
        <p:spPr>
          <a:xfrm>
            <a:off x="582930" y="1143392"/>
            <a:ext cx="8636508" cy="5632311"/>
          </a:xfrm>
          <a:prstGeom prst="rect">
            <a:avLst/>
          </a:prstGeom>
          <a:noFill/>
        </p:spPr>
        <p:txBody>
          <a:bodyPr wrap="square">
            <a:spAutoFit/>
          </a:bodyPr>
          <a:lstStyle/>
          <a:p>
            <a:pPr>
              <a:buNone/>
            </a:pPr>
            <a:r>
              <a:rPr lang="en-US" b="1" dirty="0"/>
              <a:t>Primary Algorithm</a:t>
            </a:r>
          </a:p>
          <a:p>
            <a:pPr>
              <a:buNone/>
            </a:pPr>
            <a:endParaRPr lang="en-US" dirty="0"/>
          </a:p>
          <a:p>
            <a:pPr>
              <a:buNone/>
            </a:pPr>
            <a:r>
              <a:rPr lang="en-US" b="1" dirty="0"/>
              <a:t>Multinomial Logistic Regression</a:t>
            </a:r>
          </a:p>
          <a:p>
            <a:pPr>
              <a:buNone/>
            </a:pPr>
            <a:endParaRPr lang="en-US" b="1" dirty="0"/>
          </a:p>
          <a:p>
            <a:pPr>
              <a:buNone/>
            </a:pPr>
            <a:r>
              <a:rPr lang="en-US" b="1" dirty="0"/>
              <a:t>Purpose:</a:t>
            </a:r>
            <a:br>
              <a:rPr lang="en-US" dirty="0"/>
            </a:br>
            <a:r>
              <a:rPr lang="en-US" dirty="0"/>
              <a:t>Multi-class disease classification</a:t>
            </a:r>
          </a:p>
          <a:p>
            <a:pPr>
              <a:buNone/>
            </a:pPr>
            <a:endParaRPr lang="en-US" dirty="0"/>
          </a:p>
          <a:p>
            <a:pPr>
              <a:buNone/>
            </a:pPr>
            <a:r>
              <a:rPr lang="en-US" b="1" dirty="0"/>
              <a:t>Input:</a:t>
            </a:r>
            <a:br>
              <a:rPr lang="en-US" dirty="0"/>
            </a:br>
            <a:r>
              <a:rPr lang="en-US" dirty="0"/>
              <a:t>Patient symptoms and profile features</a:t>
            </a:r>
          </a:p>
          <a:p>
            <a:pPr>
              <a:buNone/>
            </a:pPr>
            <a:endParaRPr lang="en-US" dirty="0"/>
          </a:p>
          <a:p>
            <a:pPr>
              <a:buNone/>
            </a:pPr>
            <a:r>
              <a:rPr lang="en-US" b="1" dirty="0"/>
              <a:t>Output:</a:t>
            </a:r>
            <a:br>
              <a:rPr lang="en-US" dirty="0"/>
            </a:br>
            <a:r>
              <a:rPr lang="en-US" dirty="0"/>
              <a:t>Predicted disease category</a:t>
            </a:r>
          </a:p>
          <a:p>
            <a:pPr>
              <a:buNone/>
            </a:pPr>
            <a:endParaRPr lang="en-US" dirty="0"/>
          </a:p>
          <a:p>
            <a:pPr>
              <a:buNone/>
            </a:pPr>
            <a:r>
              <a:rPr lang="en-US" b="1" dirty="0"/>
              <a:t>Why selected?</a:t>
            </a:r>
            <a:endParaRPr lang="en-US" dirty="0"/>
          </a:p>
          <a:p>
            <a:pPr>
              <a:buFont typeface="Arial" panose="020B0604020202020204" pitchFamily="34" charset="0"/>
              <a:buChar char="•"/>
            </a:pPr>
            <a:r>
              <a:rPr lang="en-US" dirty="0"/>
              <a:t>Suitable for multi-class classification </a:t>
            </a:r>
          </a:p>
          <a:p>
            <a:pPr>
              <a:buFont typeface="Arial" panose="020B0604020202020204" pitchFamily="34" charset="0"/>
              <a:buChar char="•"/>
            </a:pPr>
            <a:r>
              <a:rPr lang="en-US" dirty="0"/>
              <a:t>Simple and interpretable </a:t>
            </a:r>
          </a:p>
          <a:p>
            <a:pPr>
              <a:buFont typeface="Arial" panose="020B0604020202020204" pitchFamily="34" charset="0"/>
              <a:buChar char="•"/>
            </a:pPr>
            <a:r>
              <a:rPr lang="en-US" dirty="0"/>
              <a:t>Provides probability for each disease class </a:t>
            </a:r>
          </a:p>
          <a:p>
            <a:pPr>
              <a:buNone/>
            </a:pPr>
            <a:endParaRPr lang="en-US" b="1" dirty="0"/>
          </a:p>
          <a:p>
            <a:pPr>
              <a:buNone/>
            </a:pPr>
            <a:endParaRPr lang="en-US" b="1" dirty="0"/>
          </a:p>
          <a:p>
            <a:pPr>
              <a:buNone/>
            </a:pPr>
            <a:r>
              <a:rPr lang="en-US" b="1" dirty="0"/>
              <a:t>Patient Features → Multinomial Logistic Regression → Disease Prediction</a:t>
            </a:r>
            <a:endParaRPr lang="en-US" dirty="0"/>
          </a:p>
        </p:txBody>
      </p:sp>
    </p:spTree>
    <p:extLst>
      <p:ext uri="{BB962C8B-B14F-4D97-AF65-F5344CB8AC3E}">
        <p14:creationId xmlns:p14="http://schemas.microsoft.com/office/powerpoint/2010/main" val="1539151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9AC0FE-2708-7783-9EDB-A860476A1B1C}"/>
              </a:ext>
            </a:extLst>
          </p:cNvPr>
          <p:cNvSpPr>
            <a:spLocks noGrp="1"/>
          </p:cNvSpPr>
          <p:nvPr>
            <p:ph type="sldNum" sz="quarter" idx="4"/>
          </p:nvPr>
        </p:nvSpPr>
        <p:spPr/>
        <p:txBody>
          <a:bodyPr/>
          <a:lstStyle/>
          <a:p>
            <a:fld id="{58FB4751-880F-D840-AAA9-3A15815CC996}" type="slidenum">
              <a:rPr lang="en-US" smtClean="0"/>
              <a:pPr/>
              <a:t>7</a:t>
            </a:fld>
            <a:endParaRPr lang="en-US" dirty="0"/>
          </a:p>
        </p:txBody>
      </p:sp>
      <p:sp>
        <p:nvSpPr>
          <p:cNvPr id="4" name="TextBox 3">
            <a:extLst>
              <a:ext uri="{FF2B5EF4-FFF2-40B4-BE49-F238E27FC236}">
                <a16:creationId xmlns:a16="http://schemas.microsoft.com/office/drawing/2014/main" id="{3AF663D0-C759-5FE6-ADAA-6C68DD27C86C}"/>
              </a:ext>
            </a:extLst>
          </p:cNvPr>
          <p:cNvSpPr txBox="1"/>
          <p:nvPr/>
        </p:nvSpPr>
        <p:spPr>
          <a:xfrm>
            <a:off x="619506" y="523994"/>
            <a:ext cx="6103620"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Proposed Solution</a:t>
            </a:r>
          </a:p>
        </p:txBody>
      </p:sp>
      <p:sp>
        <p:nvSpPr>
          <p:cNvPr id="6" name="TextBox 5">
            <a:extLst>
              <a:ext uri="{FF2B5EF4-FFF2-40B4-BE49-F238E27FC236}">
                <a16:creationId xmlns:a16="http://schemas.microsoft.com/office/drawing/2014/main" id="{05491AC3-EA50-6C1D-9A5D-37A8FDFC972A}"/>
              </a:ext>
            </a:extLst>
          </p:cNvPr>
          <p:cNvSpPr txBox="1"/>
          <p:nvPr/>
        </p:nvSpPr>
        <p:spPr>
          <a:xfrm>
            <a:off x="619506" y="1292965"/>
            <a:ext cx="10734294" cy="5355312"/>
          </a:xfrm>
          <a:prstGeom prst="rect">
            <a:avLst/>
          </a:prstGeom>
          <a:noFill/>
        </p:spPr>
        <p:txBody>
          <a:bodyPr wrap="square">
            <a:spAutoFit/>
          </a:bodyPr>
          <a:lstStyle/>
          <a:p>
            <a:pPr>
              <a:buNone/>
            </a:pPr>
            <a:r>
              <a:rPr lang="en-US" b="1" dirty="0"/>
              <a:t>Our proposed system uses machine learning to predict the disease category from patient symptoms and profile information.</a:t>
            </a:r>
          </a:p>
          <a:p>
            <a:pPr>
              <a:buNone/>
            </a:pPr>
            <a:endParaRPr lang="en-US" dirty="0"/>
          </a:p>
          <a:p>
            <a:pPr>
              <a:buNone/>
            </a:pPr>
            <a:r>
              <a:rPr lang="en-US" b="1" dirty="0"/>
              <a:t>Process : </a:t>
            </a:r>
          </a:p>
          <a:p>
            <a:pPr>
              <a:buNone/>
            </a:pPr>
            <a:endParaRPr lang="en-US" b="1" dirty="0"/>
          </a:p>
          <a:p>
            <a:pPr marL="342900" indent="-342900">
              <a:buAutoNum type="arabicPeriod"/>
            </a:pPr>
            <a:r>
              <a:rPr lang="en-US" b="1" dirty="0"/>
              <a:t>Patient Data Collection</a:t>
            </a:r>
          </a:p>
          <a:p>
            <a:r>
              <a:rPr lang="en-US" dirty="0"/>
              <a:t>Collect symptoms and patient profile information.</a:t>
            </a:r>
          </a:p>
          <a:p>
            <a:r>
              <a:rPr lang="en-US" dirty="0"/>
              <a:t>     </a:t>
            </a:r>
            <a:r>
              <a:rPr lang="en-IN" dirty="0"/>
              <a:t>↓</a:t>
            </a:r>
            <a:endParaRPr lang="en-US" dirty="0"/>
          </a:p>
          <a:p>
            <a:pPr>
              <a:buNone/>
            </a:pPr>
            <a:r>
              <a:rPr lang="en-US" b="1" dirty="0"/>
              <a:t>2. Data Preprocessing</a:t>
            </a:r>
            <a:br>
              <a:rPr lang="en-US" dirty="0"/>
            </a:br>
            <a:r>
              <a:rPr lang="en-US" dirty="0"/>
              <a:t> Clean the data and convert categorical values into numerical form.</a:t>
            </a:r>
          </a:p>
          <a:p>
            <a:pPr>
              <a:buNone/>
            </a:pPr>
            <a:r>
              <a:rPr lang="en-US" dirty="0"/>
              <a:t>     </a:t>
            </a:r>
            <a:r>
              <a:rPr lang="en-IN" dirty="0"/>
              <a:t>↓</a:t>
            </a:r>
            <a:endParaRPr lang="en-US" dirty="0"/>
          </a:p>
          <a:p>
            <a:pPr>
              <a:buNone/>
            </a:pPr>
            <a:r>
              <a:rPr lang="en-US" b="1" dirty="0"/>
              <a:t>3. Feature Preparation</a:t>
            </a:r>
            <a:br>
              <a:rPr lang="en-US" dirty="0"/>
            </a:br>
            <a:r>
              <a:rPr lang="en-US" dirty="0"/>
              <a:t>Prepare the selected input features for model training.</a:t>
            </a:r>
          </a:p>
          <a:p>
            <a:pPr>
              <a:buNone/>
            </a:pPr>
            <a:r>
              <a:rPr lang="en-US" dirty="0"/>
              <a:t>      </a:t>
            </a:r>
            <a:r>
              <a:rPr lang="en-IN" dirty="0"/>
              <a:t>↓</a:t>
            </a:r>
            <a:endParaRPr lang="en-US" dirty="0"/>
          </a:p>
          <a:p>
            <a:pPr>
              <a:buNone/>
            </a:pPr>
            <a:r>
              <a:rPr lang="en-US" b="1" dirty="0"/>
              <a:t>4. Model Training</a:t>
            </a:r>
            <a:br>
              <a:rPr lang="en-US" dirty="0"/>
            </a:br>
            <a:r>
              <a:rPr lang="en-US" dirty="0"/>
              <a:t>Train the </a:t>
            </a:r>
            <a:r>
              <a:rPr lang="en-US" b="1" dirty="0"/>
              <a:t>Multinomial Logistic Regression</a:t>
            </a:r>
            <a:r>
              <a:rPr lang="en-US" dirty="0"/>
              <a:t> model using the prepared dataset.</a:t>
            </a:r>
          </a:p>
          <a:p>
            <a:pPr>
              <a:buNone/>
            </a:pPr>
            <a:r>
              <a:rPr lang="en-US" dirty="0"/>
              <a:t>      </a:t>
            </a:r>
            <a:r>
              <a:rPr lang="en-IN" dirty="0"/>
              <a:t>↓</a:t>
            </a:r>
            <a:endParaRPr lang="en-US" dirty="0"/>
          </a:p>
          <a:p>
            <a:pPr>
              <a:buNone/>
            </a:pPr>
            <a:r>
              <a:rPr lang="en-US" b="1" dirty="0"/>
              <a:t>5. Disease Prediction</a:t>
            </a:r>
            <a:br>
              <a:rPr lang="en-US" dirty="0"/>
            </a:br>
            <a:r>
              <a:rPr lang="en-US" dirty="0"/>
              <a:t>Use the trained model to predict the most likely disease category.</a:t>
            </a:r>
          </a:p>
        </p:txBody>
      </p:sp>
    </p:spTree>
    <p:extLst>
      <p:ext uri="{BB962C8B-B14F-4D97-AF65-F5344CB8AC3E}">
        <p14:creationId xmlns:p14="http://schemas.microsoft.com/office/powerpoint/2010/main" val="2403882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94C5C6-5198-BC44-7A7E-4C8F58B29209}"/>
              </a:ext>
            </a:extLst>
          </p:cNvPr>
          <p:cNvSpPr>
            <a:spLocks noGrp="1"/>
          </p:cNvSpPr>
          <p:nvPr>
            <p:ph type="sldNum" sz="quarter" idx="4"/>
          </p:nvPr>
        </p:nvSpPr>
        <p:spPr/>
        <p:txBody>
          <a:bodyPr/>
          <a:lstStyle/>
          <a:p>
            <a:fld id="{58FB4751-880F-D840-AAA9-3A15815CC996}" type="slidenum">
              <a:rPr lang="en-US" smtClean="0"/>
              <a:pPr/>
              <a:t>8</a:t>
            </a:fld>
            <a:endParaRPr lang="en-US" dirty="0"/>
          </a:p>
        </p:txBody>
      </p:sp>
      <p:sp>
        <p:nvSpPr>
          <p:cNvPr id="4" name="TextBox 3">
            <a:extLst>
              <a:ext uri="{FF2B5EF4-FFF2-40B4-BE49-F238E27FC236}">
                <a16:creationId xmlns:a16="http://schemas.microsoft.com/office/drawing/2014/main" id="{0D3A8BD5-E5BE-7114-44CC-40FF2E9119A4}"/>
              </a:ext>
            </a:extLst>
          </p:cNvPr>
          <p:cNvSpPr txBox="1"/>
          <p:nvPr/>
        </p:nvSpPr>
        <p:spPr>
          <a:xfrm>
            <a:off x="436626" y="213098"/>
            <a:ext cx="6103620"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Disease Prediction Workflow</a:t>
            </a:r>
          </a:p>
        </p:txBody>
      </p:sp>
      <p:sp>
        <p:nvSpPr>
          <p:cNvPr id="6" name="TextBox 5">
            <a:extLst>
              <a:ext uri="{FF2B5EF4-FFF2-40B4-BE49-F238E27FC236}">
                <a16:creationId xmlns:a16="http://schemas.microsoft.com/office/drawing/2014/main" id="{209F246C-6BFD-620D-D82A-D5DEDDBF2755}"/>
              </a:ext>
            </a:extLst>
          </p:cNvPr>
          <p:cNvSpPr txBox="1"/>
          <p:nvPr/>
        </p:nvSpPr>
        <p:spPr>
          <a:xfrm>
            <a:off x="500634" y="1079384"/>
            <a:ext cx="6103620" cy="5632311"/>
          </a:xfrm>
          <a:prstGeom prst="rect">
            <a:avLst/>
          </a:prstGeom>
          <a:noFill/>
        </p:spPr>
        <p:txBody>
          <a:bodyPr wrap="square">
            <a:spAutoFit/>
          </a:bodyPr>
          <a:lstStyle/>
          <a:p>
            <a:pPr>
              <a:buNone/>
            </a:pPr>
            <a:r>
              <a:rPr lang="en-IN" b="1" dirty="0"/>
              <a:t>1. Dataset</a:t>
            </a:r>
            <a:br>
              <a:rPr lang="en-IN" dirty="0"/>
            </a:br>
            <a:r>
              <a:rPr lang="en-IN" dirty="0"/>
              <a:t>Disease Symptoms &amp; Patient Profile Dataset</a:t>
            </a:r>
          </a:p>
          <a:p>
            <a:pPr>
              <a:buNone/>
            </a:pPr>
            <a:r>
              <a:rPr lang="en-IN" dirty="0"/>
              <a:t>⬇️</a:t>
            </a:r>
          </a:p>
          <a:p>
            <a:pPr>
              <a:buNone/>
            </a:pPr>
            <a:r>
              <a:rPr lang="en-IN" b="1" dirty="0"/>
              <a:t>2. Data Preprocessing</a:t>
            </a:r>
            <a:br>
              <a:rPr lang="en-IN" dirty="0"/>
            </a:br>
            <a:r>
              <a:rPr lang="en-IN" dirty="0"/>
              <a:t>Clean data + encode categorical features</a:t>
            </a:r>
          </a:p>
          <a:p>
            <a:pPr>
              <a:buNone/>
            </a:pPr>
            <a:r>
              <a:rPr lang="en-IN" dirty="0"/>
              <a:t>⬇️</a:t>
            </a:r>
          </a:p>
          <a:p>
            <a:pPr>
              <a:buNone/>
            </a:pPr>
            <a:r>
              <a:rPr lang="en-IN" b="1" dirty="0"/>
              <a:t>3. Feature Preparation</a:t>
            </a:r>
            <a:br>
              <a:rPr lang="en-IN" dirty="0"/>
            </a:br>
            <a:r>
              <a:rPr lang="en-US" dirty="0"/>
              <a:t>Prepare the selected input features for model training</a:t>
            </a:r>
            <a:endParaRPr lang="en-IN" dirty="0"/>
          </a:p>
          <a:p>
            <a:pPr>
              <a:buNone/>
            </a:pPr>
            <a:r>
              <a:rPr lang="en-IN" dirty="0"/>
              <a:t>⬇️</a:t>
            </a:r>
          </a:p>
          <a:p>
            <a:pPr>
              <a:buNone/>
            </a:pPr>
            <a:r>
              <a:rPr lang="en-IN" b="1" dirty="0"/>
              <a:t>4. Train-Test Split</a:t>
            </a:r>
            <a:br>
              <a:rPr lang="en-IN" dirty="0"/>
            </a:br>
            <a:r>
              <a:rPr lang="en-IN" dirty="0"/>
              <a:t>Divide data into training and testing sets</a:t>
            </a:r>
          </a:p>
          <a:p>
            <a:pPr>
              <a:buNone/>
            </a:pPr>
            <a:r>
              <a:rPr lang="en-IN" dirty="0"/>
              <a:t>⬇️</a:t>
            </a:r>
          </a:p>
          <a:p>
            <a:pPr>
              <a:buNone/>
            </a:pPr>
            <a:r>
              <a:rPr lang="en-IN" b="1" dirty="0"/>
              <a:t>5. Model Training</a:t>
            </a:r>
            <a:br>
              <a:rPr lang="en-IN" dirty="0"/>
            </a:br>
            <a:r>
              <a:rPr lang="en-IN" dirty="0"/>
              <a:t>Multinomial Logistic Regression</a:t>
            </a:r>
          </a:p>
          <a:p>
            <a:pPr>
              <a:buNone/>
            </a:pPr>
            <a:r>
              <a:rPr lang="en-IN" dirty="0"/>
              <a:t>⬇️</a:t>
            </a:r>
          </a:p>
          <a:p>
            <a:pPr>
              <a:buNone/>
            </a:pPr>
            <a:r>
              <a:rPr lang="en-IN" b="1" dirty="0"/>
              <a:t>6. Prediction</a:t>
            </a:r>
            <a:br>
              <a:rPr lang="en-IN" dirty="0"/>
            </a:br>
            <a:r>
              <a:rPr lang="en-IN" dirty="0"/>
              <a:t>Predict disease category</a:t>
            </a:r>
          </a:p>
          <a:p>
            <a:pPr>
              <a:buNone/>
            </a:pPr>
            <a:r>
              <a:rPr lang="en-IN" dirty="0"/>
              <a:t>⬇️</a:t>
            </a:r>
          </a:p>
          <a:p>
            <a:pPr>
              <a:buNone/>
            </a:pPr>
            <a:r>
              <a:rPr lang="en-IN" b="1" dirty="0"/>
              <a:t>7. Evaluation</a:t>
            </a:r>
            <a:br>
              <a:rPr lang="en-IN" dirty="0"/>
            </a:br>
            <a:r>
              <a:rPr lang="en-IN" dirty="0"/>
              <a:t>Accuracy, Precision, Recall &amp; F1-Score</a:t>
            </a:r>
          </a:p>
        </p:txBody>
      </p:sp>
    </p:spTree>
    <p:extLst>
      <p:ext uri="{BB962C8B-B14F-4D97-AF65-F5344CB8AC3E}">
        <p14:creationId xmlns:p14="http://schemas.microsoft.com/office/powerpoint/2010/main" val="1204497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C6575-47AC-4B48-0747-B7E43E341C40}"/>
              </a:ext>
            </a:extLst>
          </p:cNvPr>
          <p:cNvSpPr>
            <a:spLocks noGrp="1"/>
          </p:cNvSpPr>
          <p:nvPr>
            <p:ph type="title"/>
          </p:nvPr>
        </p:nvSpPr>
        <p:spPr>
          <a:xfrm>
            <a:off x="914399" y="548640"/>
            <a:ext cx="10360152" cy="914400"/>
          </a:xfrm>
        </p:spPr>
        <p:txBody>
          <a:bodyPr/>
          <a:lstStyle/>
          <a:p>
            <a:r>
              <a:rPr lang="en-IN" b="1" dirty="0"/>
              <a:t>Conclusion &amp; Future Scope</a:t>
            </a:r>
          </a:p>
        </p:txBody>
      </p:sp>
      <p:sp>
        <p:nvSpPr>
          <p:cNvPr id="3" name="Content Placeholder 2">
            <a:extLst>
              <a:ext uri="{FF2B5EF4-FFF2-40B4-BE49-F238E27FC236}">
                <a16:creationId xmlns:a16="http://schemas.microsoft.com/office/drawing/2014/main" id="{00449C41-8018-3111-139D-93D0BE9A7709}"/>
              </a:ext>
            </a:extLst>
          </p:cNvPr>
          <p:cNvSpPr>
            <a:spLocks noGrp="1"/>
          </p:cNvSpPr>
          <p:nvPr>
            <p:ph sz="quarter" idx="13"/>
          </p:nvPr>
        </p:nvSpPr>
        <p:spPr/>
        <p:txBody>
          <a:bodyPr>
            <a:normAutofit lnSpcReduction="10000"/>
          </a:bodyPr>
          <a:lstStyle/>
          <a:p>
            <a:pPr marL="0" indent="0">
              <a:buNone/>
            </a:pPr>
            <a:r>
              <a:rPr lang="en-US" b="1" dirty="0"/>
              <a:t>CONCLUSION</a:t>
            </a:r>
          </a:p>
          <a:p>
            <a:r>
              <a:rPr lang="en-US" dirty="0"/>
              <a:t>Developed a multi-class disease prediction system. </a:t>
            </a:r>
          </a:p>
          <a:p>
            <a:r>
              <a:rPr lang="en-US" dirty="0"/>
              <a:t>Used patient symptoms and profile information as input. </a:t>
            </a:r>
          </a:p>
          <a:p>
            <a:r>
              <a:rPr lang="en-US" dirty="0"/>
              <a:t>Applied Multinomial Logistic Regression. </a:t>
            </a:r>
          </a:p>
          <a:p>
            <a:r>
              <a:rPr lang="en-US" dirty="0"/>
              <a:t>Provides a data-driven approach for preliminary disease prediction. </a:t>
            </a:r>
          </a:p>
          <a:p>
            <a:r>
              <a:rPr lang="en-US" dirty="0"/>
              <a:t>Demonstrates ML application in healthcare.</a:t>
            </a:r>
          </a:p>
        </p:txBody>
      </p:sp>
      <p:sp>
        <p:nvSpPr>
          <p:cNvPr id="4" name="Content Placeholder 3">
            <a:extLst>
              <a:ext uri="{FF2B5EF4-FFF2-40B4-BE49-F238E27FC236}">
                <a16:creationId xmlns:a16="http://schemas.microsoft.com/office/drawing/2014/main" id="{312617AB-410B-FD42-19F9-637089D6AB69}"/>
              </a:ext>
            </a:extLst>
          </p:cNvPr>
          <p:cNvSpPr>
            <a:spLocks noGrp="1"/>
          </p:cNvSpPr>
          <p:nvPr>
            <p:ph sz="quarter" idx="12"/>
          </p:nvPr>
        </p:nvSpPr>
        <p:spPr>
          <a:xfrm>
            <a:off x="5045203" y="1984460"/>
            <a:ext cx="6537960" cy="3904488"/>
          </a:xfrm>
        </p:spPr>
        <p:txBody>
          <a:bodyPr/>
          <a:lstStyle/>
          <a:p>
            <a:r>
              <a:rPr lang="en-US" b="1" dirty="0"/>
              <a:t>FUTURE SCOPE</a:t>
            </a:r>
          </a:p>
          <a:p>
            <a:r>
              <a:rPr lang="en-US" dirty="0"/>
              <a:t>Add more symptoms and medical features. </a:t>
            </a:r>
          </a:p>
          <a:p>
            <a:r>
              <a:rPr lang="en-US" dirty="0"/>
              <a:t>Use larger and more diverse datasets. </a:t>
            </a:r>
          </a:p>
          <a:p>
            <a:r>
              <a:rPr lang="en-US" dirty="0"/>
              <a:t>Compare with other ML algorithms. </a:t>
            </a:r>
          </a:p>
          <a:p>
            <a:r>
              <a:rPr lang="en-US" dirty="0"/>
              <a:t>Develop a web/mobile prototype. </a:t>
            </a:r>
          </a:p>
          <a:p>
            <a:r>
              <a:rPr lang="en-US" dirty="0"/>
              <a:t>Explore advanced ML and deep learning techniques.</a:t>
            </a:r>
          </a:p>
        </p:txBody>
      </p:sp>
      <p:sp>
        <p:nvSpPr>
          <p:cNvPr id="5" name="Slide Number Placeholder 4">
            <a:extLst>
              <a:ext uri="{FF2B5EF4-FFF2-40B4-BE49-F238E27FC236}">
                <a16:creationId xmlns:a16="http://schemas.microsoft.com/office/drawing/2014/main" id="{604AA643-2A0B-1FB0-D6FF-8561C17721C1}"/>
              </a:ext>
            </a:extLst>
          </p:cNvPr>
          <p:cNvSpPr>
            <a:spLocks noGrp="1"/>
          </p:cNvSpPr>
          <p:nvPr>
            <p:ph type="sldNum" sz="quarter" idx="4"/>
          </p:nvPr>
        </p:nvSpPr>
        <p:spPr/>
        <p:txBody>
          <a:bodyPr/>
          <a:lstStyle/>
          <a:p>
            <a:r>
              <a:rPr lang="en-US" dirty="0"/>
              <a:t>9</a:t>
            </a:r>
          </a:p>
        </p:txBody>
      </p:sp>
      <p:sp>
        <p:nvSpPr>
          <p:cNvPr id="7" name="TextBox 6">
            <a:extLst>
              <a:ext uri="{FF2B5EF4-FFF2-40B4-BE49-F238E27FC236}">
                <a16:creationId xmlns:a16="http://schemas.microsoft.com/office/drawing/2014/main" id="{CF683232-9D1B-235D-5FAE-9EBECFE7B303}"/>
              </a:ext>
            </a:extLst>
          </p:cNvPr>
          <p:cNvSpPr txBox="1"/>
          <p:nvPr/>
        </p:nvSpPr>
        <p:spPr>
          <a:xfrm>
            <a:off x="2596895" y="6280354"/>
            <a:ext cx="6094476" cy="369332"/>
          </a:xfrm>
          <a:prstGeom prst="rect">
            <a:avLst/>
          </a:prstGeom>
          <a:noFill/>
        </p:spPr>
        <p:txBody>
          <a:bodyPr wrap="square">
            <a:spAutoFit/>
          </a:bodyPr>
          <a:lstStyle/>
          <a:p>
            <a:r>
              <a:rPr lang="en-US" dirty="0"/>
              <a:t>“Machine Learning for Smarter Healthcare Decision Support”</a:t>
            </a:r>
            <a:endParaRPr lang="en-IN" dirty="0"/>
          </a:p>
        </p:txBody>
      </p:sp>
    </p:spTree>
    <p:extLst>
      <p:ext uri="{BB962C8B-B14F-4D97-AF65-F5344CB8AC3E}">
        <p14:creationId xmlns:p14="http://schemas.microsoft.com/office/powerpoint/2010/main" val="2017192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{326BCE1A-3BE3-4C9B-8E31-53D94BA60AFF}TF1ed9553b-00c4-4092-846a-c8f7f2908f3beecd942f_win32-8e33096c3cfc</Template>
  <TotalTime>58</TotalTime>
  <Words>633</Words>
  <Application>Microsoft Office PowerPoint</Application>
  <PresentationFormat>Widescreen</PresentationFormat>
  <Paragraphs>111</Paragraphs>
  <Slides>10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Algerian</vt:lpstr>
      <vt:lpstr>Aptos</vt:lpstr>
      <vt:lpstr>Arial</vt:lpstr>
      <vt:lpstr>Calibri</vt:lpstr>
      <vt:lpstr>Courier New</vt:lpstr>
      <vt:lpstr>Gill Sans Nova Light</vt:lpstr>
      <vt:lpstr>Sagona Book</vt:lpstr>
      <vt:lpstr>Times New Roman</vt:lpstr>
      <vt:lpstr>Custom</vt:lpstr>
      <vt:lpstr>Multi-Class Disease Diagnosis  Using Multinomial Logistic Regression</vt:lpstr>
      <vt:lpstr>Problem Statement &amp; Objectives</vt:lpstr>
      <vt:lpstr>PowerPoint Presentation</vt:lpstr>
      <vt:lpstr>Existing System &amp; Limitations</vt:lpstr>
      <vt:lpstr>Exploratory Data Analysis (EDA)</vt:lpstr>
      <vt:lpstr>PowerPoint Presentation</vt:lpstr>
      <vt:lpstr>PowerPoint Presentation</vt:lpstr>
      <vt:lpstr>PowerPoint Presentation</vt:lpstr>
      <vt:lpstr>Conclusion &amp; 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M.Geethika Chowdary</dc:creator>
  <cp:lastModifiedBy>M.Geethika Chowdary</cp:lastModifiedBy>
  <cp:revision>1</cp:revision>
  <dcterms:created xsi:type="dcterms:W3CDTF">2026-08-28T15:02:54Z</dcterms:created>
  <dcterms:modified xsi:type="dcterms:W3CDTF">2026-08-29T00:33:08Z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